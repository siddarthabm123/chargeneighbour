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d1db37aff04475" /><Relationship Type="http://schemas.openxmlformats.org/officeDocument/2006/relationships/extended-properties" Target="/docProps/app.xml" Id="R809fd24f61274392" /><Relationship Type="http://schemas.openxmlformats.org/officeDocument/2006/relationships/officeDocument" Target="/ppt/presentation.xml" Id="Rb0cf3a39840640e4" /></Relationships>
</file>

<file path=ppt/presentation.xml><?xml version="1.0" encoding="utf-8"?>
<p:presentation xmlns:p="http://schemas.openxmlformats.org/presentationml/2006/main">
  <p:sldMasterIdLst>
    <p:sldMasterId xmlns:r="http://schemas.openxmlformats.org/officeDocument/2006/relationships" id="2147483648" r:id="Rbb6fac9c3fc84bad"/>
  </p:sldMasterIdLst>
  <p:notesMasterIdLst>
    <p:notesMasterId xmlns:r="http://schemas.openxmlformats.org/officeDocument/2006/relationships" r:id="R45f7b64d7ccc47a5"/>
  </p:notesMasterIdLst>
  <p:sldIdLst>
    <p:sldId xmlns:r="http://schemas.openxmlformats.org/officeDocument/2006/relationships" id="256" r:id="R8c093301cb6c427d"/>
    <p:sldId xmlns:r="http://schemas.openxmlformats.org/officeDocument/2006/relationships" id="257" r:id="R4129ff5b1a5c4267"/>
    <p:sldId xmlns:r="http://schemas.openxmlformats.org/officeDocument/2006/relationships" id="258" r:id="R5dd086264c084869"/>
    <p:sldId xmlns:r="http://schemas.openxmlformats.org/officeDocument/2006/relationships" id="259" r:id="R72c2b1019a8f4eb1"/>
    <p:sldId xmlns:r="http://schemas.openxmlformats.org/officeDocument/2006/relationships" id="260" r:id="R27303a7a7d784180"/>
    <p:sldId xmlns:r="http://schemas.openxmlformats.org/officeDocument/2006/relationships" id="261" r:id="R707b9a3ae5574199"/>
    <p:sldId xmlns:r="http://schemas.openxmlformats.org/officeDocument/2006/relationships" id="262" r:id="R1332f86340214342"/>
    <p:sldId xmlns:r="http://schemas.openxmlformats.org/officeDocument/2006/relationships" id="263" r:id="Rec066bd0408c4f6f"/>
    <p:sldId xmlns:r="http://schemas.openxmlformats.org/officeDocument/2006/relationships" id="264" r:id="R3a075cf5fc874182"/>
    <p:sldId xmlns:r="http://schemas.openxmlformats.org/officeDocument/2006/relationships" id="265" r:id="Rb0e3961071e14f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8aa80a82bd4e3f" /><Relationship Type="http://schemas.openxmlformats.org/officeDocument/2006/relationships/slideMaster" Target="/ppt/slideMasters/slideMaster1.xml" Id="Rbb6fac9c3fc84bad" /><Relationship Type="http://schemas.openxmlformats.org/officeDocument/2006/relationships/notesMaster" Target="/ppt/notesMasters/notesMaster1.xml" Id="R45f7b64d7ccc47a5" /><Relationship Type="http://schemas.openxmlformats.org/officeDocument/2006/relationships/presProps" Target="/ppt/presProps.xml" Id="R6eb8879ab16c4211" /><Relationship Type="http://schemas.openxmlformats.org/officeDocument/2006/relationships/tableStyles" Target="/ppt/tableStyles.xml" Id="R32450d75b3af44be" /><Relationship Type="http://schemas.openxmlformats.org/officeDocument/2006/relationships/slide" Target="/ppt/slides/slide1.xml" Id="R8c093301cb6c427d" /><Relationship Type="http://schemas.openxmlformats.org/officeDocument/2006/relationships/slide" Target="/ppt/slides/slide2.xml" Id="R4129ff5b1a5c4267" /><Relationship Type="http://schemas.openxmlformats.org/officeDocument/2006/relationships/slide" Target="/ppt/slides/slide3.xml" Id="R5dd086264c084869" /><Relationship Type="http://schemas.openxmlformats.org/officeDocument/2006/relationships/slide" Target="/ppt/slides/slide4.xml" Id="R72c2b1019a8f4eb1" /><Relationship Type="http://schemas.openxmlformats.org/officeDocument/2006/relationships/slide" Target="/ppt/slides/slide5.xml" Id="R27303a7a7d784180" /><Relationship Type="http://schemas.openxmlformats.org/officeDocument/2006/relationships/slide" Target="/ppt/slides/slide6.xml" Id="R707b9a3ae5574199" /><Relationship Type="http://schemas.openxmlformats.org/officeDocument/2006/relationships/slide" Target="/ppt/slides/slide7.xml" Id="R1332f86340214342" /><Relationship Type="http://schemas.openxmlformats.org/officeDocument/2006/relationships/slide" Target="/ppt/slides/slide8.xml" Id="Rec066bd0408c4f6f" /><Relationship Type="http://schemas.openxmlformats.org/officeDocument/2006/relationships/slide" Target="/ppt/slides/slide9.xml" Id="R3a075cf5fc874182" /><Relationship Type="http://schemas.openxmlformats.org/officeDocument/2006/relationships/slide" Target="/ppt/slides/slide10.xml" Id="Rb0e3961071e14f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d78a6855a24c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6c1ced74414f98" /><Relationship Type="http://schemas.openxmlformats.org/officeDocument/2006/relationships/notesMaster" Target="/ppt/notesMasters/notesMaster1.xml" Id="R7d0b813f68724e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27de8050f74dd3" /><Relationship Type="http://schemas.openxmlformats.org/officeDocument/2006/relationships/notesMaster" Target="/ppt/notesMasters/notesMaster1.xml" Id="Ra6ba0824a3c141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dff484d4fb411f" /><Relationship Type="http://schemas.openxmlformats.org/officeDocument/2006/relationships/notesMaster" Target="/ppt/notesMasters/notesMaster1.xml" Id="Rbc74e1765df549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6b69f8ef74408e" /><Relationship Type="http://schemas.openxmlformats.org/officeDocument/2006/relationships/notesMaster" Target="/ppt/notesMasters/notesMaster1.xml" Id="R686c3af30b284f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63f84a2ed64c6d" /><Relationship Type="http://schemas.openxmlformats.org/officeDocument/2006/relationships/notesMaster" Target="/ppt/notesMasters/notesMaster1.xml" Id="Rc275bcb15c914c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17316baa404322" /><Relationship Type="http://schemas.openxmlformats.org/officeDocument/2006/relationships/notesMaster" Target="/ppt/notesMasters/notesMaster1.xml" Id="R50f26f21665d49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ee04bc99be4571" /><Relationship Type="http://schemas.openxmlformats.org/officeDocument/2006/relationships/notesMaster" Target="/ppt/notesMasters/notesMaster1.xml" Id="R6a38bc45709d44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915917188f448b" /><Relationship Type="http://schemas.openxmlformats.org/officeDocument/2006/relationships/notesMaster" Target="/ppt/notesMasters/notesMaster1.xml" Id="Rd69e635c6f8d4e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94072e80884088" /><Relationship Type="http://schemas.openxmlformats.org/officeDocument/2006/relationships/notesMaster" Target="/ppt/notesMasters/notesMaster1.xml" Id="R5aab98d56ce744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8ab30786a04048" /><Relationship Type="http://schemas.openxmlformats.org/officeDocument/2006/relationships/notesMaster" Target="/ppt/notesMasters/notesMaster1.xml" Id="Recbca7d7715f42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concept and branding: https://chargeneighbour-theta.vercel.app and https://github.com/siddarthabm123/chargeneighbour . The project owns the supplied AI concept illustration. It does not depict a verified host. Stage: prototype and proposed pilot, 20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product hypotheses and practical verification needs, not survey findings. Google station data does not guarantee access or availability. Source: https://developers.google.com/maps/documentation/places/web-service/policies . Validate the frequency and importance of these problems through driver interviews.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mobile product: https://chargeneighbour-theta.vercel.app . OpenStreetMap/Photon discovery and limited OSRM road routes work without Google billing. Time excludes live traffic. Unknown specifications do not establish compatibility. The demo gallery and fictional reviews are explicitly labelled. Host applications require private photo/GPS evidence and actual manual review. Reservations remain gated. No operating inventory or sessions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and host segment selection is an internal pilot hypothesis. The project focuses initially on Type 2 AC car charging and does not claim emergency DC charging. Electrical/property review is a launch dependency. Context on Indian EV charging standards: https://www.pib.gov.in/PressReleasePage.aspx?PRID=2151393&amp;lang=2&amp;reg=48 . No regulatory approval for any host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Geographic strategy and market-sizing method are proposed. No city has been declared operational, and no nationwide host coverage or TAM figure is asserted. Source: project public launch plan https://chargeneighbour-theta.vercel.app/launch-plan.md . The database serves all locations without separate regional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describes broad customer options, not an exhaustive feature comparison or a claim that competitors lack bookings. Public discovery references: https://www.google.com/maps and https://www.plugshare.com/ . ChargeNeighbour differentiation is a hypothesis to validate, not an established moat. No partnership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are illustrative business assumptions, not validated tariffs, delivered margins or earnings. Arithmetic: 10*16=160; 160*0.15=24; 160-24=136; 10*8=80; 136-80=56. Other costs and taxes remain unquantified. Source: https://chargeneighbour-theta.vercel.app/pitch-brief.md . The proposed settlement/payment model requires provider eligibility and final tax/fee arrangements.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suggested validation targets, not industry benchmarks or achieved traction. Measure successful entry, completed charging, delivered energy, repeat usage, support effort, refunds and contribution after variable costs. Source: internal launch audit and public launch plan https://chargeneighbour-theta.vercel.app/launch-plan.md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status comes from the repository and the website release on 20 October 2026. Isolated PostgreSQL, RLS, overlap, billing and webhook replay tests passed during development. These checks do not certify electrical safety, live Google/SMTP, merchant approval or production multi-connection acceptance. No commercial activation is asserted. Source: https://github.com/siddarthabm123/chargeneighbour and https://chargeneighbour-theta.vercel.app/status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request for founding hosts and pilot partners. No funding valuation, investment return, commercial partnership, insurance cover, signed host count or operating revenue is asserted. Team/operator identity and the first operating area remain to be provided by the project owner. Contact via the actual website support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d1de84962546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b0768cd6d34a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ef12194a9e45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5972967d7640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f47dfcb38945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b13a4b8a364b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D3D00A-F03F-4DD3-8058-C6B43E492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FBA155-65D0-4152-9A4B-4C351A9110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13BBD4-D502-4240-9818-68D05C7CA7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810890-2C9F-48E6-9057-A7B40EF840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1BC682-882A-4414-8B98-8EB7CC4FC4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17C1DF-632F-4D8A-839C-F9910F9243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0A596C-BE49-469D-ACD7-3CCBAF35AF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645635-7B13-4EE6-866E-83AE4A347A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C0B9F-DD9C-4BFA-9055-7466028A2A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982821-E438-41C6-9BDA-77F0C77FCD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dab754283d4c6c" /><Relationship Type="http://schemas.openxmlformats.org/officeDocument/2006/relationships/slideLayout" Target="/ppt/slideLayouts/slideLayout1.xml" Id="Rfba1b64c03fb495a" /><Relationship Type="http://schemas.openxmlformats.org/officeDocument/2006/relationships/slideLayout" Target="/ppt/slideLayouts/slideLayout2.xml" Id="R5518fe36669e46cf" /><Relationship Type="http://schemas.openxmlformats.org/officeDocument/2006/relationships/slideLayout" Target="/ppt/slideLayouts/slideLayout3.xml" Id="Ra273338bfe754aaa" /><Relationship Type="http://schemas.openxmlformats.org/officeDocument/2006/relationships/slideLayout" Target="/ppt/slideLayouts/slideLayout4.xml" Id="R9df3b946c33041be" /><Relationship Type="http://schemas.openxmlformats.org/officeDocument/2006/relationships/slideLayout" Target="/ppt/slideLayouts/slideLayout5.xml" Id="Rcad79bbd7cbc4c09" /><Relationship Type="http://schemas.openxmlformats.org/officeDocument/2006/relationships/slideLayout" Target="/ppt/slideLayouts/slideLayout6.xml" Id="Rd34c27103c6b45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a1b64c03fb495a"/>
    <p:sldLayoutId xmlns:r="http://schemas.openxmlformats.org/officeDocument/2006/relationships" id="2147483650" r:id="R5518fe36669e46cf"/>
    <p:sldLayoutId xmlns:r="http://schemas.openxmlformats.org/officeDocument/2006/relationships" id="2147483651" r:id="Ra273338bfe754aaa"/>
    <p:sldLayoutId xmlns:r="http://schemas.openxmlformats.org/officeDocument/2006/relationships" id="2147483652" r:id="R9df3b946c33041be"/>
    <p:sldLayoutId xmlns:r="http://schemas.openxmlformats.org/officeDocument/2006/relationships" id="2147483653" r:id="Rcad79bbd7cbc4c09"/>
    <p:sldLayoutId xmlns:r="http://schemas.openxmlformats.org/officeDocument/2006/relationships" id="2147483654" r:id="Rd34c27103c6b45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bd0ba20d4c4bd0" /><Relationship Type="http://schemas.openxmlformats.org/officeDocument/2006/relationships/image" Target="/ppt/media/image.bin" Id="R3c18aa23c2404adc" /><Relationship Type="http://schemas.openxmlformats.org/officeDocument/2006/relationships/notesSlide" Target="/ppt/notesSlides/notesSlide1.xml" Id="Raa4a8d65cb7842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81b704be4e40a6" /><Relationship Type="http://schemas.openxmlformats.org/officeDocument/2006/relationships/notesSlide" Target="/ppt/notesSlides/notesSlide2.xml" Id="Rfd9a208d2d0f4a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5c5ae05d1e4b09" /><Relationship Type="http://schemas.openxmlformats.org/officeDocument/2006/relationships/notesSlide" Target="/ppt/notesSlides/notesSlide3.xml" Id="Rc32b75dd4fa148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910260f1b14131" /><Relationship Type="http://schemas.openxmlformats.org/officeDocument/2006/relationships/notesSlide" Target="/ppt/notesSlides/notesSlide4.xml" Id="Rab746f1aeb3240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9126b91ece4d77" /><Relationship Type="http://schemas.openxmlformats.org/officeDocument/2006/relationships/notesSlide" Target="/ppt/notesSlides/notesSlide5.xml" Id="Rbd595d18f35d47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296467e90d4a35" /><Relationship Type="http://schemas.openxmlformats.org/officeDocument/2006/relationships/notesSlide" Target="/ppt/notesSlides/notesSlide6.xml" Id="R77f40bfaddc64a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fb1fa5fcc34b93" /><Relationship Type="http://schemas.openxmlformats.org/officeDocument/2006/relationships/notesSlide" Target="/ppt/notesSlides/notesSlide7.xml" Id="Rb3379840b6944d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e4a5118d4f449e3" /><Relationship Type="http://schemas.openxmlformats.org/officeDocument/2006/relationships/notesSlide" Target="/ppt/notesSlides/notesSlide8.xml" Id="Rbcb091075e924e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4314b311ae458a" /><Relationship Type="http://schemas.openxmlformats.org/officeDocument/2006/relationships/notesSlide" Target="/ppt/notesSlides/notesSlide9.xml" Id="R23601842b73641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dc088acf5f43d9" /><Relationship Type="http://schemas.openxmlformats.org/officeDocument/2006/relationships/hyperlink" Target="https://chargeneighbour-theta.vercel.app/support" TargetMode="External" Id="R8be700cf918f4d9c" /><Relationship Type="http://schemas.openxmlformats.org/officeDocument/2006/relationships/notesSlide" Target="/ppt/notesSlides/notesSlide10.xml" Id="R07644ca7b5624d24" /></Relationships>
</file>

<file path=ppt/slides/slide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F612AA-7781-4392-A0A9-B0B0C7E2CA19}"/>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2" name="">
            <a:extLst xmlns:a="http://schemas.openxmlformats.org/drawingml/2006/main">
              <a:ext uri="{FF2B5EF4-FFF2-40B4-BE49-F238E27FC236}">
                <a16:creationId xmlns:a16="http://schemas.microsoft.com/office/drawing/2014/main" id="{1DCECDA1-EE98-43C3-BBE6-E6C798ABC146}"/>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9E2A1D23-5D0F-45B1-913B-C619D6E04279}"/>
              </a:ext>
            </a:extLst>
          </p:cNvPr>
          <p:cNvPicPr>
            <a:picLocks xmlns:a="http://schemas.openxmlformats.org/drawingml/2006/main" noChangeAspect="1"/>
          </p:cNvPicPr>
          <p:nvPr/>
        </p:nvPicPr>
        <p:blipFill>
          <a:blip xmlns:r="http://schemas.openxmlformats.org/officeDocument/2006/relationships" xmlns:a="http://schemas.openxmlformats.org/drawingml/2006/main" r:embed="R3c18aa23c2404adc"/>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91D2F2-5F1B-45AF-8B03-2279CBC191B0}"/>
              </a:ext>
            </a:extLst>
          </p:cNvPr>
          <p:cNvSpPr>
            <a:spLocks xmlns:a="http://schemas.openxmlformats.org/drawingml/2006/main" noGrp="1"/>
          </p:cNvSpPr>
          <p:nvPr/>
        </p:nvSpPr>
        <p:spPr>
          <a:xfrm xmlns:a="http://schemas.openxmlformats.org/drawingml/2006/main">
            <a:off x="685800" y="6477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B2B"/>
                </a:solidFill>
                <a:latin typeface="Arial"/>
                <a:ea typeface="Arial"/>
                <a:cs typeface="Arial"/>
              </a:defRPr>
            </a:defPPr>
            <a:lvl1pPr>
              <a:defRPr sz="3150" b="1">
                <a:solidFill>
                  <a:srgbClr val="173B2B"/>
                </a:solidFill>
                <a:latin typeface="Arial"/>
                <a:ea typeface="Arial"/>
                <a:cs typeface="Arial"/>
              </a:defRPr>
            </a:lvl1pPr>
            <a:lvl2pPr>
              <a:defRPr sz="3150" b="1">
                <a:solidFill>
                  <a:srgbClr val="173B2B"/>
                </a:solidFill>
                <a:latin typeface="Arial"/>
                <a:ea typeface="Arial"/>
                <a:cs typeface="Arial"/>
              </a:defRPr>
            </a:lvl2pPr>
            <a:lvl3pPr>
              <a:defRPr sz="3150" b="1">
                <a:solidFill>
                  <a:srgbClr val="173B2B"/>
                </a:solidFill>
                <a:latin typeface="Arial"/>
                <a:ea typeface="Arial"/>
                <a:cs typeface="Arial"/>
              </a:defRPr>
            </a:lvl3pPr>
            <a:lvl4pPr>
              <a:defRPr sz="3150" b="1">
                <a:solidFill>
                  <a:srgbClr val="173B2B"/>
                </a:solidFill>
                <a:latin typeface="Arial"/>
                <a:ea typeface="Arial"/>
                <a:cs typeface="Arial"/>
              </a:defRPr>
            </a:lvl4pPr>
            <a:lvl5pPr>
              <a:defRPr sz="3150" b="1">
                <a:solidFill>
                  <a:srgbClr val="173B2B"/>
                </a:solidFill>
                <a:latin typeface="Arial"/>
                <a:ea typeface="Arial"/>
                <a:cs typeface="Arial"/>
              </a:defRPr>
            </a:lvl5pPr>
            <a:lvl6pPr>
              <a:defRPr sz="3150" b="1">
                <a:solidFill>
                  <a:srgbClr val="173B2B"/>
                </a:solidFill>
                <a:latin typeface="Arial"/>
                <a:ea typeface="Arial"/>
                <a:cs typeface="Arial"/>
              </a:defRPr>
            </a:lvl6pPr>
            <a:lvl7pPr>
              <a:defRPr sz="3150" b="1">
                <a:solidFill>
                  <a:srgbClr val="173B2B"/>
                </a:solidFill>
                <a:latin typeface="Arial"/>
                <a:ea typeface="Arial"/>
                <a:cs typeface="Arial"/>
              </a:defRPr>
            </a:lvl7pPr>
            <a:lvl8pPr>
              <a:defRPr sz="3150" b="1">
                <a:solidFill>
                  <a:srgbClr val="173B2B"/>
                </a:solidFill>
                <a:latin typeface="Arial"/>
                <a:ea typeface="Arial"/>
                <a:cs typeface="Arial"/>
              </a:defRPr>
            </a:lvl8pPr>
            <a:lvl9pPr>
              <a:defRPr sz="3150" b="1">
                <a:solidFill>
                  <a:srgbClr val="173B2B"/>
                </a:solidFill>
                <a:latin typeface="Arial"/>
                <a:ea typeface="Arial"/>
                <a:cs typeface="Arial"/>
              </a:defRPr>
            </a:lvl9pPr>
          </a:lstStyle>
          <a:p xmlns:a="http://schemas.openxmlformats.org/drawingml/2006/main">
            <a:pPr>
              <a:defRPr sz="3150" b="1">
                <a:solidFill>
                  <a:srgbClr val="173B2B"/>
                </a:solidFill>
                <a:latin typeface="Arial"/>
                <a:ea typeface="Arial"/>
                <a:cs typeface="Arial"/>
              </a:defRPr>
            </a:pPr>
            <a:r>
              <a:rPr sz="3150" b="1">
                <a:solidFill>
                  <a:srgbClr val="173B2B"/>
                </a:solidFill>
                <a:latin typeface="Arial"/>
                <a:ea typeface="Arial"/>
                <a:cs typeface="Arial"/>
              </a:rPr>
              <a:t>chargeneighbour.</a:t>
            </a:r>
          </a:p>
        </p:txBody>
      </p:sp>
      <p:sp>
        <p:nvSpPr>
          <p:cNvPr id="5" name="">
            <a:extLst xmlns:a="http://schemas.openxmlformats.org/drawingml/2006/main">
              <a:ext uri="{FF2B5EF4-FFF2-40B4-BE49-F238E27FC236}">
                <a16:creationId xmlns:a16="http://schemas.microsoft.com/office/drawing/2014/main" id="{4F08C3D8-79DA-4926-888B-EC6CEC09882B}"/>
              </a:ext>
            </a:extLst>
          </p:cNvPr>
          <p:cNvSpPr>
            <a:spLocks xmlns:a="http://schemas.openxmlformats.org/drawingml/2006/main" noGrp="1"/>
          </p:cNvSpPr>
          <p:nvPr/>
        </p:nvSpPr>
        <p:spPr>
          <a:xfrm xmlns:a="http://schemas.openxmlformats.org/drawingml/2006/main">
            <a:off x="685800" y="1828800"/>
            <a:ext cx="6191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173B2B"/>
                </a:solidFill>
                <a:latin typeface="Arial"/>
                <a:ea typeface="Arial"/>
                <a:cs typeface="Arial"/>
              </a:defRPr>
            </a:defPPr>
            <a:lvl1pPr>
              <a:defRPr sz="5400" b="1">
                <a:solidFill>
                  <a:srgbClr val="173B2B"/>
                </a:solidFill>
                <a:latin typeface="Arial"/>
                <a:ea typeface="Arial"/>
                <a:cs typeface="Arial"/>
              </a:defRPr>
            </a:lvl1pPr>
            <a:lvl2pPr>
              <a:defRPr sz="5400" b="1">
                <a:solidFill>
                  <a:srgbClr val="173B2B"/>
                </a:solidFill>
                <a:latin typeface="Arial"/>
                <a:ea typeface="Arial"/>
                <a:cs typeface="Arial"/>
              </a:defRPr>
            </a:lvl2pPr>
            <a:lvl3pPr>
              <a:defRPr sz="5400" b="1">
                <a:solidFill>
                  <a:srgbClr val="173B2B"/>
                </a:solidFill>
                <a:latin typeface="Arial"/>
                <a:ea typeface="Arial"/>
                <a:cs typeface="Arial"/>
              </a:defRPr>
            </a:lvl3pPr>
            <a:lvl4pPr>
              <a:defRPr sz="5400" b="1">
                <a:solidFill>
                  <a:srgbClr val="173B2B"/>
                </a:solidFill>
                <a:latin typeface="Arial"/>
                <a:ea typeface="Arial"/>
                <a:cs typeface="Arial"/>
              </a:defRPr>
            </a:lvl4pPr>
            <a:lvl5pPr>
              <a:defRPr sz="5400" b="1">
                <a:solidFill>
                  <a:srgbClr val="173B2B"/>
                </a:solidFill>
                <a:latin typeface="Arial"/>
                <a:ea typeface="Arial"/>
                <a:cs typeface="Arial"/>
              </a:defRPr>
            </a:lvl5pPr>
            <a:lvl6pPr>
              <a:defRPr sz="5400" b="1">
                <a:solidFill>
                  <a:srgbClr val="173B2B"/>
                </a:solidFill>
                <a:latin typeface="Arial"/>
                <a:ea typeface="Arial"/>
                <a:cs typeface="Arial"/>
              </a:defRPr>
            </a:lvl6pPr>
            <a:lvl7pPr>
              <a:defRPr sz="5400" b="1">
                <a:solidFill>
                  <a:srgbClr val="173B2B"/>
                </a:solidFill>
                <a:latin typeface="Arial"/>
                <a:ea typeface="Arial"/>
                <a:cs typeface="Arial"/>
              </a:defRPr>
            </a:lvl7pPr>
            <a:lvl8pPr>
              <a:defRPr sz="5400" b="1">
                <a:solidFill>
                  <a:srgbClr val="173B2B"/>
                </a:solidFill>
                <a:latin typeface="Arial"/>
                <a:ea typeface="Arial"/>
                <a:cs typeface="Arial"/>
              </a:defRPr>
            </a:lvl8pPr>
            <a:lvl9pPr>
              <a:defRPr sz="5400" b="1">
                <a:solidFill>
                  <a:srgbClr val="173B2B"/>
                </a:solidFill>
                <a:latin typeface="Arial"/>
                <a:ea typeface="Arial"/>
                <a:cs typeface="Arial"/>
              </a:defRPr>
            </a:lvl9pPr>
          </a:lstStyle>
          <a:p xmlns:a="http://schemas.openxmlformats.org/drawingml/2006/main">
            <a:pPr>
              <a:defRPr sz="5400" b="1">
                <a:solidFill>
                  <a:srgbClr val="173B2B"/>
                </a:solidFill>
                <a:latin typeface="Arial"/>
                <a:ea typeface="Arial"/>
                <a:cs typeface="Arial"/>
              </a:defRPr>
            </a:pPr>
            <a:r>
              <a:rPr sz="5400" b="1">
                <a:solidFill>
                  <a:srgbClr val="173B2B"/>
                </a:solidFill>
                <a:latin typeface="Arial"/>
                <a:ea typeface="Arial"/>
                <a:cs typeface="Arial"/>
              </a:rPr>
              <a:t>Find a charge.</a:t>
            </a:r>
          </a:p>
          <a:p xmlns:a="http://schemas.openxmlformats.org/drawingml/2006/main">
            <a:pPr>
              <a:defRPr sz="5400" b="1">
                <a:solidFill>
                  <a:srgbClr val="173B2B"/>
                </a:solidFill>
                <a:latin typeface="Arial"/>
                <a:ea typeface="Arial"/>
                <a:cs typeface="Arial"/>
              </a:defRPr>
            </a:pPr>
            <a:r>
              <a:rPr sz="5400" b="1">
                <a:solidFill>
                  <a:srgbClr val="173B2B"/>
                </a:solidFill>
                <a:latin typeface="Arial"/>
                <a:ea typeface="Arial"/>
                <a:cs typeface="Arial"/>
              </a:rPr>
              <a:t>Share your</a:t>
            </a:r>
          </a:p>
          <a:p xmlns:a="http://schemas.openxmlformats.org/drawingml/2006/main">
            <a:pPr>
              <a:defRPr sz="5400" b="1">
                <a:solidFill>
                  <a:srgbClr val="173B2B"/>
                </a:solidFill>
                <a:latin typeface="Arial"/>
                <a:ea typeface="Arial"/>
                <a:cs typeface="Arial"/>
              </a:defRPr>
            </a:pPr>
            <a:r>
              <a:rPr sz="5400" b="1">
                <a:solidFill>
                  <a:srgbClr val="173B2B"/>
                </a:solidFill>
                <a:latin typeface="Arial"/>
                <a:ea typeface="Arial"/>
                <a:cs typeface="Arial"/>
              </a:rPr>
              <a:t>charger.</a:t>
            </a:r>
          </a:p>
        </p:txBody>
      </p:sp>
      <p:sp>
        <p:nvSpPr>
          <p:cNvPr id="6" name="">
            <a:extLst xmlns:a="http://schemas.openxmlformats.org/drawingml/2006/main">
              <a:ext uri="{FF2B5EF4-FFF2-40B4-BE49-F238E27FC236}">
                <a16:creationId xmlns:a16="http://schemas.microsoft.com/office/drawing/2014/main" id="{EF708CB4-F4B3-4282-B8CE-70BA262946B3}"/>
              </a:ext>
            </a:extLst>
          </p:cNvPr>
          <p:cNvSpPr>
            <a:spLocks xmlns:a="http://schemas.openxmlformats.org/drawingml/2006/main" noGrp="1"/>
          </p:cNvSpPr>
          <p:nvPr/>
        </p:nvSpPr>
        <p:spPr>
          <a:xfrm xmlns:a="http://schemas.openxmlformats.org/drawingml/2006/main">
            <a:off x="685800" y="50482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34F"/>
                </a:solidFill>
                <a:latin typeface="Arial"/>
                <a:ea typeface="Arial"/>
                <a:cs typeface="Arial"/>
              </a:defRPr>
            </a:defPPr>
            <a:lvl1pPr>
              <a:defRPr sz="2100" b="0">
                <a:solidFill>
                  <a:srgbClr val="53634F"/>
                </a:solidFill>
                <a:latin typeface="Arial"/>
                <a:ea typeface="Arial"/>
                <a:cs typeface="Arial"/>
              </a:defRPr>
            </a:lvl1pPr>
            <a:lvl2pPr>
              <a:defRPr sz="2100" b="0">
                <a:solidFill>
                  <a:srgbClr val="53634F"/>
                </a:solidFill>
                <a:latin typeface="Arial"/>
                <a:ea typeface="Arial"/>
                <a:cs typeface="Arial"/>
              </a:defRPr>
            </a:lvl2pPr>
            <a:lvl3pPr>
              <a:defRPr sz="2100" b="0">
                <a:solidFill>
                  <a:srgbClr val="53634F"/>
                </a:solidFill>
                <a:latin typeface="Arial"/>
                <a:ea typeface="Arial"/>
                <a:cs typeface="Arial"/>
              </a:defRPr>
            </a:lvl3pPr>
            <a:lvl4pPr>
              <a:defRPr sz="2100" b="0">
                <a:solidFill>
                  <a:srgbClr val="53634F"/>
                </a:solidFill>
                <a:latin typeface="Arial"/>
                <a:ea typeface="Arial"/>
                <a:cs typeface="Arial"/>
              </a:defRPr>
            </a:lvl4pPr>
            <a:lvl5pPr>
              <a:defRPr sz="2100" b="0">
                <a:solidFill>
                  <a:srgbClr val="53634F"/>
                </a:solidFill>
                <a:latin typeface="Arial"/>
                <a:ea typeface="Arial"/>
                <a:cs typeface="Arial"/>
              </a:defRPr>
            </a:lvl5pPr>
            <a:lvl6pPr>
              <a:defRPr sz="2100" b="0">
                <a:solidFill>
                  <a:srgbClr val="53634F"/>
                </a:solidFill>
                <a:latin typeface="Arial"/>
                <a:ea typeface="Arial"/>
                <a:cs typeface="Arial"/>
              </a:defRPr>
            </a:lvl6pPr>
            <a:lvl7pPr>
              <a:defRPr sz="2100" b="0">
                <a:solidFill>
                  <a:srgbClr val="53634F"/>
                </a:solidFill>
                <a:latin typeface="Arial"/>
                <a:ea typeface="Arial"/>
                <a:cs typeface="Arial"/>
              </a:defRPr>
            </a:lvl7pPr>
            <a:lvl8pPr>
              <a:defRPr sz="2100" b="0">
                <a:solidFill>
                  <a:srgbClr val="53634F"/>
                </a:solidFill>
                <a:latin typeface="Arial"/>
                <a:ea typeface="Arial"/>
                <a:cs typeface="Arial"/>
              </a:defRPr>
            </a:lvl8pPr>
            <a:lvl9pPr>
              <a:defRPr sz="2100" b="0">
                <a:solidFill>
                  <a:srgbClr val="53634F"/>
                </a:solidFill>
                <a:latin typeface="Arial"/>
                <a:ea typeface="Arial"/>
                <a:cs typeface="Arial"/>
              </a:defRPr>
            </a:lvl9pPr>
          </a:lstStyle>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A proposed neighbourhood EV charging pilot</a:t>
            </a:r>
          </a:p>
        </p:txBody>
      </p:sp>
      <p:sp>
        <p:nvSpPr>
          <p:cNvPr id="7" name="">
            <a:extLst xmlns:a="http://schemas.openxmlformats.org/drawingml/2006/main">
              <a:ext uri="{FF2B5EF4-FFF2-40B4-BE49-F238E27FC236}">
                <a16:creationId xmlns:a16="http://schemas.microsoft.com/office/drawing/2014/main" id="{6A9F2821-B487-47F8-9D28-2C322DCC5DF5}"/>
              </a:ext>
            </a:extLst>
          </p:cNvPr>
          <p:cNvSpPr>
            <a:spLocks xmlns:a="http://schemas.openxmlformats.org/drawingml/2006/main" noGrp="1"/>
          </p:cNvSpPr>
          <p:nvPr/>
        </p:nvSpPr>
        <p:spPr>
          <a:xfrm xmlns:a="http://schemas.openxmlformats.org/drawingml/2006/main">
            <a:off x="685800" y="598170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3634F"/>
                </a:solidFill>
                <a:latin typeface="Arial"/>
                <a:ea typeface="Arial"/>
                <a:cs typeface="Arial"/>
              </a:defRPr>
            </a:defPPr>
            <a:lvl1pPr>
              <a:defRPr sz="1425" b="0">
                <a:solidFill>
                  <a:srgbClr val="53634F"/>
                </a:solidFill>
                <a:latin typeface="Arial"/>
                <a:ea typeface="Arial"/>
                <a:cs typeface="Arial"/>
              </a:defRPr>
            </a:lvl1pPr>
            <a:lvl2pPr>
              <a:defRPr sz="1425" b="0">
                <a:solidFill>
                  <a:srgbClr val="53634F"/>
                </a:solidFill>
                <a:latin typeface="Arial"/>
                <a:ea typeface="Arial"/>
                <a:cs typeface="Arial"/>
              </a:defRPr>
            </a:lvl2pPr>
            <a:lvl3pPr>
              <a:defRPr sz="1425" b="0">
                <a:solidFill>
                  <a:srgbClr val="53634F"/>
                </a:solidFill>
                <a:latin typeface="Arial"/>
                <a:ea typeface="Arial"/>
                <a:cs typeface="Arial"/>
              </a:defRPr>
            </a:lvl3pPr>
            <a:lvl4pPr>
              <a:defRPr sz="1425" b="0">
                <a:solidFill>
                  <a:srgbClr val="53634F"/>
                </a:solidFill>
                <a:latin typeface="Arial"/>
                <a:ea typeface="Arial"/>
                <a:cs typeface="Arial"/>
              </a:defRPr>
            </a:lvl4pPr>
            <a:lvl5pPr>
              <a:defRPr sz="1425" b="0">
                <a:solidFill>
                  <a:srgbClr val="53634F"/>
                </a:solidFill>
                <a:latin typeface="Arial"/>
                <a:ea typeface="Arial"/>
                <a:cs typeface="Arial"/>
              </a:defRPr>
            </a:lvl5pPr>
            <a:lvl6pPr>
              <a:defRPr sz="1425" b="0">
                <a:solidFill>
                  <a:srgbClr val="53634F"/>
                </a:solidFill>
                <a:latin typeface="Arial"/>
                <a:ea typeface="Arial"/>
                <a:cs typeface="Arial"/>
              </a:defRPr>
            </a:lvl6pPr>
            <a:lvl7pPr>
              <a:defRPr sz="1425" b="0">
                <a:solidFill>
                  <a:srgbClr val="53634F"/>
                </a:solidFill>
                <a:latin typeface="Arial"/>
                <a:ea typeface="Arial"/>
                <a:cs typeface="Arial"/>
              </a:defRPr>
            </a:lvl7pPr>
            <a:lvl8pPr>
              <a:defRPr sz="1425" b="0">
                <a:solidFill>
                  <a:srgbClr val="53634F"/>
                </a:solidFill>
                <a:latin typeface="Arial"/>
                <a:ea typeface="Arial"/>
                <a:cs typeface="Arial"/>
              </a:defRPr>
            </a:lvl8pPr>
            <a:lvl9pPr>
              <a:defRPr sz="1425" b="0">
                <a:solidFill>
                  <a:srgbClr val="53634F"/>
                </a:solidFill>
                <a:latin typeface="Arial"/>
                <a:ea typeface="Arial"/>
                <a:cs typeface="Arial"/>
              </a:defRPr>
            </a:lvl9pPr>
          </a:lstStyle>
          <a:p xmlns:a="http://schemas.openxmlformats.org/drawingml/2006/main">
            <a:pPr>
              <a:defRPr sz="1425" b="0">
                <a:solidFill>
                  <a:srgbClr val="53634F"/>
                </a:solidFill>
                <a:latin typeface="Arial"/>
                <a:ea typeface="Arial"/>
                <a:cs typeface="Arial"/>
              </a:defRPr>
            </a:pPr>
            <a:r>
              <a:rPr sz="1425" b="0">
                <a:solidFill>
                  <a:srgbClr val="53634F"/>
                </a:solidFill>
                <a:latin typeface="Arial"/>
                <a:ea typeface="Arial"/>
                <a:cs typeface="Arial"/>
              </a:rPr>
              <a:t>AI concept image, not a participating host</a:t>
            </a:r>
          </a:p>
        </p:txBody>
      </p:sp>
    </p:spTree>
    <p:extLst>
      <p:ext uri="{BB962C8B-B14F-4D97-AF65-F5344CB8AC3E}">
        <p14:creationId xmlns:p14="http://schemas.microsoft.com/office/powerpoint/2010/main" val="370430726"/>
      </p:ext>
    </p:extLst>
  </p:cSld>
</p:sld>
</file>

<file path=ppt/slides/slide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47A788-3D1D-4517-8901-8938A7985212}"/>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The customer problem</a:t>
            </a:r>
          </a:p>
        </p:txBody>
      </p:sp>
      <p:sp>
        <p:nvSpPr>
          <p:cNvPr id="2" name="">
            <a:extLst xmlns:a="http://schemas.openxmlformats.org/drawingml/2006/main">
              <a:ext uri="{FF2B5EF4-FFF2-40B4-BE49-F238E27FC236}">
                <a16:creationId xmlns:a16="http://schemas.microsoft.com/office/drawing/2014/main" id="{8F0796C7-D0D8-4B63-8F68-99BB9DA5C1E9}"/>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E04CDD0C-7137-4EEA-9DBA-4D54930241EE}"/>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93D2469-F07C-437D-B0A0-1F2685358426}"/>
              </a:ext>
            </a:extLst>
          </p:cNvPr>
          <p:cNvSpPr>
            <a:spLocks xmlns:a="http://schemas.openxmlformats.org/drawingml/2006/main" noGrp="1"/>
          </p:cNvSpPr>
          <p:nvPr/>
        </p:nvSpPr>
        <p:spPr>
          <a:xfrm xmlns:a="http://schemas.openxmlformats.org/drawingml/2006/main">
            <a:off x="685800" y="179070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73B2B"/>
                </a:solidFill>
                <a:latin typeface="Arial"/>
                <a:ea typeface="Arial"/>
                <a:cs typeface="Arial"/>
              </a:defRPr>
            </a:defPPr>
            <a:lvl1pPr>
              <a:defRPr sz="4050" b="1">
                <a:solidFill>
                  <a:srgbClr val="173B2B"/>
                </a:solidFill>
                <a:latin typeface="Arial"/>
                <a:ea typeface="Arial"/>
                <a:cs typeface="Arial"/>
              </a:defRPr>
            </a:lvl1pPr>
            <a:lvl2pPr>
              <a:defRPr sz="4050" b="1">
                <a:solidFill>
                  <a:srgbClr val="173B2B"/>
                </a:solidFill>
                <a:latin typeface="Arial"/>
                <a:ea typeface="Arial"/>
                <a:cs typeface="Arial"/>
              </a:defRPr>
            </a:lvl2pPr>
            <a:lvl3pPr>
              <a:defRPr sz="4050" b="1">
                <a:solidFill>
                  <a:srgbClr val="173B2B"/>
                </a:solidFill>
                <a:latin typeface="Arial"/>
                <a:ea typeface="Arial"/>
                <a:cs typeface="Arial"/>
              </a:defRPr>
            </a:lvl3pPr>
            <a:lvl4pPr>
              <a:defRPr sz="4050" b="1">
                <a:solidFill>
                  <a:srgbClr val="173B2B"/>
                </a:solidFill>
                <a:latin typeface="Arial"/>
                <a:ea typeface="Arial"/>
                <a:cs typeface="Arial"/>
              </a:defRPr>
            </a:lvl4pPr>
            <a:lvl5pPr>
              <a:defRPr sz="4050" b="1">
                <a:solidFill>
                  <a:srgbClr val="173B2B"/>
                </a:solidFill>
                <a:latin typeface="Arial"/>
                <a:ea typeface="Arial"/>
                <a:cs typeface="Arial"/>
              </a:defRPr>
            </a:lvl5pPr>
            <a:lvl6pPr>
              <a:defRPr sz="4050" b="1">
                <a:solidFill>
                  <a:srgbClr val="173B2B"/>
                </a:solidFill>
                <a:latin typeface="Arial"/>
                <a:ea typeface="Arial"/>
                <a:cs typeface="Arial"/>
              </a:defRPr>
            </a:lvl6pPr>
            <a:lvl7pPr>
              <a:defRPr sz="4050" b="1">
                <a:solidFill>
                  <a:srgbClr val="173B2B"/>
                </a:solidFill>
                <a:latin typeface="Arial"/>
                <a:ea typeface="Arial"/>
                <a:cs typeface="Arial"/>
              </a:defRPr>
            </a:lvl7pPr>
            <a:lvl8pPr>
              <a:defRPr sz="4050" b="1">
                <a:solidFill>
                  <a:srgbClr val="173B2B"/>
                </a:solidFill>
                <a:latin typeface="Arial"/>
                <a:ea typeface="Arial"/>
                <a:cs typeface="Arial"/>
              </a:defRPr>
            </a:lvl8pPr>
            <a:lvl9pPr>
              <a:defRPr sz="4050" b="1">
                <a:solidFill>
                  <a:srgbClr val="173B2B"/>
                </a:solidFill>
                <a:latin typeface="Arial"/>
                <a:ea typeface="Arial"/>
                <a:cs typeface="Arial"/>
              </a:defRPr>
            </a:lvl9pPr>
          </a:lstStyle>
          <a:p xmlns:a="http://schemas.openxmlformats.org/drawingml/2006/main">
            <a:pPr>
              <a:defRPr sz="4050" b="1">
                <a:solidFill>
                  <a:srgbClr val="173B2B"/>
                </a:solidFill>
                <a:latin typeface="Arial"/>
                <a:ea typeface="Arial"/>
                <a:cs typeface="Arial"/>
              </a:defRPr>
            </a:pPr>
            <a:r>
              <a:rPr sz="4050" b="1">
                <a:solidFill>
                  <a:srgbClr val="173B2B"/>
                </a:solidFill>
                <a:latin typeface="Arial"/>
                <a:ea typeface="Arial"/>
                <a:cs typeface="Arial"/>
              </a:rPr>
              <a:t>Finding a charger does not</a:t>
            </a:r>
          </a:p>
          <a:p xmlns:a="http://schemas.openxmlformats.org/drawingml/2006/main">
            <a:pPr>
              <a:defRPr sz="4050" b="1">
                <a:solidFill>
                  <a:srgbClr val="173B2B"/>
                </a:solidFill>
                <a:latin typeface="Arial"/>
                <a:ea typeface="Arial"/>
                <a:cs typeface="Arial"/>
              </a:defRPr>
            </a:pPr>
            <a:r>
              <a:rPr sz="4050" b="1">
                <a:solidFill>
                  <a:srgbClr val="173B2B"/>
                </a:solidFill>
                <a:latin typeface="Arial"/>
                <a:ea typeface="Arial"/>
                <a:cs typeface="Arial"/>
              </a:rPr>
              <a:t>confirm a usable stop</a:t>
            </a:r>
          </a:p>
        </p:txBody>
      </p:sp>
      <p:sp>
        <p:nvSpPr>
          <p:cNvPr id="5" name="">
            <a:extLst xmlns:a="http://schemas.openxmlformats.org/drawingml/2006/main">
              <a:ext uri="{FF2B5EF4-FFF2-40B4-BE49-F238E27FC236}">
                <a16:creationId xmlns:a16="http://schemas.microsoft.com/office/drawing/2014/main" id="{76531137-83AF-4EAC-897C-46F622AC3306}"/>
              </a:ext>
            </a:extLst>
          </p:cNvPr>
          <p:cNvSpPr>
            <a:spLocks xmlns:a="http://schemas.openxmlformats.org/drawingml/2006/main" noGrp="1"/>
          </p:cNvSpPr>
          <p:nvPr/>
        </p:nvSpPr>
        <p:spPr>
          <a:xfrm xmlns:a="http://schemas.openxmlformats.org/drawingml/2006/main">
            <a:off x="762000" y="36195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Compatibility</a:t>
            </a:r>
          </a:p>
        </p:txBody>
      </p:sp>
      <p:sp>
        <p:nvSpPr>
          <p:cNvPr id="6" name="">
            <a:extLst xmlns:a="http://schemas.openxmlformats.org/drawingml/2006/main">
              <a:ext uri="{FF2B5EF4-FFF2-40B4-BE49-F238E27FC236}">
                <a16:creationId xmlns:a16="http://schemas.microsoft.com/office/drawing/2014/main" id="{7BD9A60F-E602-4326-81BF-0664B5C030CB}"/>
              </a:ext>
            </a:extLst>
          </p:cNvPr>
          <p:cNvSpPr>
            <a:spLocks xmlns:a="http://schemas.openxmlformats.org/drawingml/2006/main" noGrp="1"/>
          </p:cNvSpPr>
          <p:nvPr/>
        </p:nvSpPr>
        <p:spPr>
          <a:xfrm xmlns:a="http://schemas.openxmlformats.org/drawingml/2006/main">
            <a:off x="4381500" y="36195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The driver needs the right connector and usable power.</a:t>
            </a:r>
          </a:p>
        </p:txBody>
      </p:sp>
      <p:sp>
        <p:nvSpPr>
          <p:cNvPr id="7" name="">
            <a:extLst xmlns:a="http://schemas.openxmlformats.org/drawingml/2006/main">
              <a:ext uri="{FF2B5EF4-FFF2-40B4-BE49-F238E27FC236}">
                <a16:creationId xmlns:a16="http://schemas.microsoft.com/office/drawing/2014/main" id="{3F845D3A-5C6C-4CE7-9468-7B50CC5C5D51}"/>
              </a:ext>
            </a:extLst>
          </p:cNvPr>
          <p:cNvSpPr>
            <a:spLocks xmlns:a="http://schemas.openxmlformats.org/drawingml/2006/main" noGrp="1"/>
          </p:cNvSpPr>
          <p:nvPr/>
        </p:nvSpPr>
        <p:spPr>
          <a:xfrm xmlns:a="http://schemas.openxmlformats.org/drawingml/2006/main">
            <a:off x="762000" y="45720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Access</a:t>
            </a:r>
          </a:p>
        </p:txBody>
      </p:sp>
      <p:sp>
        <p:nvSpPr>
          <p:cNvPr id="8" name="">
            <a:extLst xmlns:a="http://schemas.openxmlformats.org/drawingml/2006/main">
              <a:ext uri="{FF2B5EF4-FFF2-40B4-BE49-F238E27FC236}">
                <a16:creationId xmlns:a16="http://schemas.microsoft.com/office/drawing/2014/main" id="{C8BD4F85-CE4F-4786-ACAD-DB62AF85A558}"/>
              </a:ext>
            </a:extLst>
          </p:cNvPr>
          <p:cNvSpPr>
            <a:spLocks xmlns:a="http://schemas.openxmlformats.org/drawingml/2006/main" noGrp="1"/>
          </p:cNvSpPr>
          <p:nvPr/>
        </p:nvSpPr>
        <p:spPr>
          <a:xfrm xmlns:a="http://schemas.openxmlformats.org/drawingml/2006/main">
            <a:off x="4381500" y="45720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Entry rules, parking and opening hours shape the visit.</a:t>
            </a:r>
          </a:p>
        </p:txBody>
      </p:sp>
      <p:sp>
        <p:nvSpPr>
          <p:cNvPr id="9" name="">
            <a:extLst xmlns:a="http://schemas.openxmlformats.org/drawingml/2006/main">
              <a:ext uri="{FF2B5EF4-FFF2-40B4-BE49-F238E27FC236}">
                <a16:creationId xmlns:a16="http://schemas.microsoft.com/office/drawing/2014/main" id="{D6304FA9-3736-4149-A224-5A6DE4E43A76}"/>
              </a:ext>
            </a:extLst>
          </p:cNvPr>
          <p:cNvSpPr>
            <a:spLocks xmlns:a="http://schemas.openxmlformats.org/drawingml/2006/main" noGrp="1"/>
          </p:cNvSpPr>
          <p:nvPr/>
        </p:nvSpPr>
        <p:spPr>
          <a:xfrm xmlns:a="http://schemas.openxmlformats.org/drawingml/2006/main">
            <a:off x="762000" y="55245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Confidence</a:t>
            </a:r>
          </a:p>
        </p:txBody>
      </p:sp>
      <p:sp>
        <p:nvSpPr>
          <p:cNvPr id="10" name="">
            <a:extLst xmlns:a="http://schemas.openxmlformats.org/drawingml/2006/main">
              <a:ext uri="{FF2B5EF4-FFF2-40B4-BE49-F238E27FC236}">
                <a16:creationId xmlns:a16="http://schemas.microsoft.com/office/drawing/2014/main" id="{92578C59-EA1D-4505-BB95-F34524B70154}"/>
              </a:ext>
            </a:extLst>
          </p:cNvPr>
          <p:cNvSpPr>
            <a:spLocks xmlns:a="http://schemas.openxmlformats.org/drawingml/2006/main" noGrp="1"/>
          </p:cNvSpPr>
          <p:nvPr/>
        </p:nvSpPr>
        <p:spPr>
          <a:xfrm xmlns:a="http://schemas.openxmlformats.org/drawingml/2006/main">
            <a:off x="4381500" y="55245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Price and reported availability need confirmation.</a:t>
            </a:r>
          </a:p>
        </p:txBody>
      </p:sp>
    </p:spTree>
    <p:extLst>
      <p:ext uri="{BB962C8B-B14F-4D97-AF65-F5344CB8AC3E}">
        <p14:creationId xmlns:p14="http://schemas.microsoft.com/office/powerpoint/2010/main" val="2048408092"/>
      </p:ext>
    </p:extLst>
  </p:cSld>
</p:sld>
</file>

<file path=ppt/slides/slide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74B23D-2C88-40BA-A190-DBEA3460463C}"/>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The mobile driver journey</a:t>
            </a:r>
          </a:p>
        </p:txBody>
      </p:sp>
      <p:sp>
        <p:nvSpPr>
          <p:cNvPr id="2" name="">
            <a:extLst xmlns:a="http://schemas.openxmlformats.org/drawingml/2006/main">
              <a:ext uri="{FF2B5EF4-FFF2-40B4-BE49-F238E27FC236}">
                <a16:creationId xmlns:a16="http://schemas.microsoft.com/office/drawing/2014/main" id="{C28FFA35-17CF-4B30-95B7-3F7513981D74}"/>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E75173A7-9D14-435B-BEA5-B013C86A293F}"/>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069F66F-F77B-443F-A292-FFC194B3E659}"/>
              </a:ext>
            </a:extLst>
          </p:cNvPr>
          <p:cNvSpPr>
            <a:spLocks xmlns:a="http://schemas.openxmlformats.org/drawingml/2006/main" noGrp="1"/>
          </p:cNvSpPr>
          <p:nvPr/>
        </p:nvSpPr>
        <p:spPr>
          <a:xfrm xmlns:a="http://schemas.openxmlformats.org/drawingml/2006/main">
            <a:off x="762000" y="1857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Search immediately</a:t>
            </a:r>
          </a:p>
        </p:txBody>
      </p:sp>
      <p:sp>
        <p:nvSpPr>
          <p:cNvPr id="5" name="">
            <a:extLst xmlns:a="http://schemas.openxmlformats.org/drawingml/2006/main">
              <a:ext uri="{FF2B5EF4-FFF2-40B4-BE49-F238E27FC236}">
                <a16:creationId xmlns:a16="http://schemas.microsoft.com/office/drawing/2014/main" id="{315108BF-1BE4-4898-B179-0DBA07C65D6D}"/>
              </a:ext>
            </a:extLst>
          </p:cNvPr>
          <p:cNvSpPr>
            <a:spLocks xmlns:a="http://schemas.openxmlformats.org/drawingml/2006/main" noGrp="1"/>
          </p:cNvSpPr>
          <p:nvPr/>
        </p:nvSpPr>
        <p:spPr>
          <a:xfrm xmlns:a="http://schemas.openxmlformats.org/drawingml/2006/main">
            <a:off x="4381500" y="185737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Enter a destination or choose optional GPS for nearby places.</a:t>
            </a:r>
          </a:p>
        </p:txBody>
      </p:sp>
      <p:sp>
        <p:nvSpPr>
          <p:cNvPr id="6" name="">
            <a:extLst xmlns:a="http://schemas.openxmlformats.org/drawingml/2006/main">
              <a:ext uri="{FF2B5EF4-FFF2-40B4-BE49-F238E27FC236}">
                <a16:creationId xmlns:a16="http://schemas.microsoft.com/office/drawing/2014/main" id="{785A0EB4-F200-440F-99DB-64E79FB667C1}"/>
              </a:ext>
            </a:extLst>
          </p:cNvPr>
          <p:cNvSpPr>
            <a:spLocks xmlns:a="http://schemas.openxmlformats.org/drawingml/2006/main" noGrp="1"/>
          </p:cNvSpPr>
          <p:nvPr/>
        </p:nvSpPr>
        <p:spPr>
          <a:xfrm xmlns:a="http://schemas.openxmlformats.org/drawingml/2006/main">
            <a:off x="762000" y="29051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Check compatibility</a:t>
            </a:r>
          </a:p>
        </p:txBody>
      </p:sp>
      <p:sp>
        <p:nvSpPr>
          <p:cNvPr id="7" name="">
            <a:extLst xmlns:a="http://schemas.openxmlformats.org/drawingml/2006/main">
              <a:ext uri="{FF2B5EF4-FFF2-40B4-BE49-F238E27FC236}">
                <a16:creationId xmlns:a16="http://schemas.microsoft.com/office/drawing/2014/main" id="{D6F5A98A-2195-48D6-B955-795FACA0A76F}"/>
              </a:ext>
            </a:extLst>
          </p:cNvPr>
          <p:cNvSpPr>
            <a:spLocks xmlns:a="http://schemas.openxmlformats.org/drawingml/2006/main" noGrp="1"/>
          </p:cNvSpPr>
          <p:nvPr/>
        </p:nvSpPr>
        <p:spPr>
          <a:xfrm xmlns:a="http://schemas.openxmlformats.org/drawingml/2006/main">
            <a:off x="4381500" y="29051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Separate supplied connector information from unknown specifications.</a:t>
            </a:r>
          </a:p>
        </p:txBody>
      </p:sp>
      <p:sp>
        <p:nvSpPr>
          <p:cNvPr id="8" name="">
            <a:extLst xmlns:a="http://schemas.openxmlformats.org/drawingml/2006/main">
              <a:ext uri="{FF2B5EF4-FFF2-40B4-BE49-F238E27FC236}">
                <a16:creationId xmlns:a16="http://schemas.microsoft.com/office/drawing/2014/main" id="{B2B7E834-DC13-4F85-AD47-56F784B954F2}"/>
              </a:ext>
            </a:extLst>
          </p:cNvPr>
          <p:cNvSpPr>
            <a:spLocks xmlns:a="http://schemas.openxmlformats.org/drawingml/2006/main" noGrp="1"/>
          </p:cNvSpPr>
          <p:nvPr/>
        </p:nvSpPr>
        <p:spPr>
          <a:xfrm xmlns:a="http://schemas.openxmlformats.org/drawingml/2006/main">
            <a:off x="762000" y="3952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Explore the stop</a:t>
            </a:r>
          </a:p>
        </p:txBody>
      </p:sp>
      <p:sp>
        <p:nvSpPr>
          <p:cNvPr id="9" name="">
            <a:extLst xmlns:a="http://schemas.openxmlformats.org/drawingml/2006/main">
              <a:ext uri="{FF2B5EF4-FFF2-40B4-BE49-F238E27FC236}">
                <a16:creationId xmlns:a16="http://schemas.microsoft.com/office/drawing/2014/main" id="{89E4CF8C-0C35-4734-84E4-FD3001156258}"/>
              </a:ext>
            </a:extLst>
          </p:cNvPr>
          <p:cNvSpPr>
            <a:spLocks xmlns:a="http://schemas.openxmlformats.org/drawingml/2006/main" noGrp="1"/>
          </p:cNvSpPr>
          <p:nvPr/>
        </p:nvSpPr>
        <p:spPr>
          <a:xfrm xmlns:a="http://schemas.openxmlformats.org/drawingml/2006/main">
            <a:off x="4381500" y="395287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Inspect station details. The sample gallery labels its AI images and reviews.</a:t>
            </a:r>
          </a:p>
        </p:txBody>
      </p:sp>
      <p:sp>
        <p:nvSpPr>
          <p:cNvPr id="10" name="">
            <a:extLst xmlns:a="http://schemas.openxmlformats.org/drawingml/2006/main">
              <a:ext uri="{FF2B5EF4-FFF2-40B4-BE49-F238E27FC236}">
                <a16:creationId xmlns:a16="http://schemas.microsoft.com/office/drawing/2014/main" id="{D26C108D-C8B6-487A-A0FB-9446AD84984D}"/>
              </a:ext>
            </a:extLst>
          </p:cNvPr>
          <p:cNvSpPr>
            <a:spLocks xmlns:a="http://schemas.openxmlformats.org/drawingml/2006/main" noGrp="1"/>
          </p:cNvSpPr>
          <p:nvPr/>
        </p:nvSpPr>
        <p:spPr>
          <a:xfrm xmlns:a="http://schemas.openxmlformats.org/drawingml/2006/main">
            <a:off x="762000" y="50006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2B"/>
                </a:solidFill>
                <a:latin typeface="Arial"/>
                <a:ea typeface="Arial"/>
                <a:cs typeface="Arial"/>
              </a:defRPr>
            </a:defPPr>
            <a:lvl1pPr>
              <a:defRPr sz="2100" b="1">
                <a:solidFill>
                  <a:srgbClr val="173B2B"/>
                </a:solidFill>
                <a:latin typeface="Arial"/>
                <a:ea typeface="Arial"/>
                <a:cs typeface="Arial"/>
              </a:defRPr>
            </a:lvl1pPr>
            <a:lvl2pPr>
              <a:defRPr sz="2100" b="1">
                <a:solidFill>
                  <a:srgbClr val="173B2B"/>
                </a:solidFill>
                <a:latin typeface="Arial"/>
                <a:ea typeface="Arial"/>
                <a:cs typeface="Arial"/>
              </a:defRPr>
            </a:lvl2pPr>
            <a:lvl3pPr>
              <a:defRPr sz="2100" b="1">
                <a:solidFill>
                  <a:srgbClr val="173B2B"/>
                </a:solidFill>
                <a:latin typeface="Arial"/>
                <a:ea typeface="Arial"/>
                <a:cs typeface="Arial"/>
              </a:defRPr>
            </a:lvl3pPr>
            <a:lvl4pPr>
              <a:defRPr sz="2100" b="1">
                <a:solidFill>
                  <a:srgbClr val="173B2B"/>
                </a:solidFill>
                <a:latin typeface="Arial"/>
                <a:ea typeface="Arial"/>
                <a:cs typeface="Arial"/>
              </a:defRPr>
            </a:lvl4pPr>
            <a:lvl5pPr>
              <a:defRPr sz="2100" b="1">
                <a:solidFill>
                  <a:srgbClr val="173B2B"/>
                </a:solidFill>
                <a:latin typeface="Arial"/>
                <a:ea typeface="Arial"/>
                <a:cs typeface="Arial"/>
              </a:defRPr>
            </a:lvl5pPr>
            <a:lvl6pPr>
              <a:defRPr sz="2100" b="1">
                <a:solidFill>
                  <a:srgbClr val="173B2B"/>
                </a:solidFill>
                <a:latin typeface="Arial"/>
                <a:ea typeface="Arial"/>
                <a:cs typeface="Arial"/>
              </a:defRPr>
            </a:lvl6pPr>
            <a:lvl7pPr>
              <a:defRPr sz="2100" b="1">
                <a:solidFill>
                  <a:srgbClr val="173B2B"/>
                </a:solidFill>
                <a:latin typeface="Arial"/>
                <a:ea typeface="Arial"/>
                <a:cs typeface="Arial"/>
              </a:defRPr>
            </a:lvl7pPr>
            <a:lvl8pPr>
              <a:defRPr sz="2100" b="1">
                <a:solidFill>
                  <a:srgbClr val="173B2B"/>
                </a:solidFill>
                <a:latin typeface="Arial"/>
                <a:ea typeface="Arial"/>
                <a:cs typeface="Arial"/>
              </a:defRPr>
            </a:lvl8pPr>
            <a:lvl9pPr>
              <a:defRPr sz="2100" b="1">
                <a:solidFill>
                  <a:srgbClr val="173B2B"/>
                </a:solidFill>
                <a:latin typeface="Arial"/>
                <a:ea typeface="Arial"/>
                <a:cs typeface="Arial"/>
              </a:defRPr>
            </a:lvl9pPr>
          </a:lstStyle>
          <a:p xmlns:a="http://schemas.openxmlformats.org/drawingml/2006/main">
            <a:pPr>
              <a:defRPr sz="2100" b="1">
                <a:solidFill>
                  <a:srgbClr val="173B2B"/>
                </a:solidFill>
                <a:latin typeface="Arial"/>
                <a:ea typeface="Arial"/>
                <a:cs typeface="Arial"/>
              </a:defRPr>
            </a:pPr>
            <a:r>
              <a:rPr sz="2100" b="1">
                <a:solidFill>
                  <a:srgbClr val="173B2B"/>
                </a:solidFill>
                <a:latin typeface="Arial"/>
                <a:ea typeface="Arial"/>
                <a:cs typeface="Arial"/>
              </a:rPr>
              <a:t>Preview the road route</a:t>
            </a:r>
          </a:p>
        </p:txBody>
      </p:sp>
      <p:sp>
        <p:nvSpPr>
          <p:cNvPr id="11" name="">
            <a:extLst xmlns:a="http://schemas.openxmlformats.org/drawingml/2006/main">
              <a:ext uri="{FF2B5EF4-FFF2-40B4-BE49-F238E27FC236}">
                <a16:creationId xmlns:a16="http://schemas.microsoft.com/office/drawing/2014/main" id="{A34A2FE1-AE68-4D47-8CCB-FE9125F93D62}"/>
              </a:ext>
            </a:extLst>
          </p:cNvPr>
          <p:cNvSpPr>
            <a:spLocks xmlns:a="http://schemas.openxmlformats.org/drawingml/2006/main" noGrp="1"/>
          </p:cNvSpPr>
          <p:nvPr/>
        </p:nvSpPr>
        <p:spPr>
          <a:xfrm xmlns:a="http://schemas.openxmlformats.org/drawingml/2006/main">
            <a:off x="4381500" y="5000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See a road line, driving distance and estimated time inside the website.</a:t>
            </a:r>
          </a:p>
        </p:txBody>
      </p:sp>
      <p:sp>
        <p:nvSpPr>
          <p:cNvPr id="12" name="">
            <a:extLst xmlns:a="http://schemas.openxmlformats.org/drawingml/2006/main">
              <a:ext uri="{FF2B5EF4-FFF2-40B4-BE49-F238E27FC236}">
                <a16:creationId xmlns:a16="http://schemas.microsoft.com/office/drawing/2014/main" id="{8EB1ABEE-8994-47F1-8F58-C8FE592899E4}"/>
              </a:ext>
            </a:extLst>
          </p:cNvPr>
          <p:cNvSpPr>
            <a:spLocks xmlns:a="http://schemas.openxmlformats.org/drawingml/2006/main" noGrp="1"/>
          </p:cNvSpPr>
          <p:nvPr/>
        </p:nvSpPr>
        <p:spPr>
          <a:xfrm xmlns:a="http://schemas.openxmlformats.org/drawingml/2006/main">
            <a:off x="685800" y="59531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34F"/>
                </a:solidFill>
                <a:latin typeface="Arial"/>
                <a:ea typeface="Arial"/>
                <a:cs typeface="Arial"/>
              </a:defRPr>
            </a:defPPr>
            <a:lvl1pPr>
              <a:defRPr sz="1650" b="0">
                <a:solidFill>
                  <a:srgbClr val="53634F"/>
                </a:solidFill>
                <a:latin typeface="Arial"/>
                <a:ea typeface="Arial"/>
                <a:cs typeface="Arial"/>
              </a:defRPr>
            </a:lvl1pPr>
            <a:lvl2pPr>
              <a:defRPr sz="1650" b="0">
                <a:solidFill>
                  <a:srgbClr val="53634F"/>
                </a:solidFill>
                <a:latin typeface="Arial"/>
                <a:ea typeface="Arial"/>
                <a:cs typeface="Arial"/>
              </a:defRPr>
            </a:lvl2pPr>
            <a:lvl3pPr>
              <a:defRPr sz="1650" b="0">
                <a:solidFill>
                  <a:srgbClr val="53634F"/>
                </a:solidFill>
                <a:latin typeface="Arial"/>
                <a:ea typeface="Arial"/>
                <a:cs typeface="Arial"/>
              </a:defRPr>
            </a:lvl3pPr>
            <a:lvl4pPr>
              <a:defRPr sz="1650" b="0">
                <a:solidFill>
                  <a:srgbClr val="53634F"/>
                </a:solidFill>
                <a:latin typeface="Arial"/>
                <a:ea typeface="Arial"/>
                <a:cs typeface="Arial"/>
              </a:defRPr>
            </a:lvl4pPr>
            <a:lvl5pPr>
              <a:defRPr sz="1650" b="0">
                <a:solidFill>
                  <a:srgbClr val="53634F"/>
                </a:solidFill>
                <a:latin typeface="Arial"/>
                <a:ea typeface="Arial"/>
                <a:cs typeface="Arial"/>
              </a:defRPr>
            </a:lvl5pPr>
            <a:lvl6pPr>
              <a:defRPr sz="1650" b="0">
                <a:solidFill>
                  <a:srgbClr val="53634F"/>
                </a:solidFill>
                <a:latin typeface="Arial"/>
                <a:ea typeface="Arial"/>
                <a:cs typeface="Arial"/>
              </a:defRPr>
            </a:lvl6pPr>
            <a:lvl7pPr>
              <a:defRPr sz="1650" b="0">
                <a:solidFill>
                  <a:srgbClr val="53634F"/>
                </a:solidFill>
                <a:latin typeface="Arial"/>
                <a:ea typeface="Arial"/>
                <a:cs typeface="Arial"/>
              </a:defRPr>
            </a:lvl7pPr>
            <a:lvl8pPr>
              <a:defRPr sz="1650" b="0">
                <a:solidFill>
                  <a:srgbClr val="53634F"/>
                </a:solidFill>
                <a:latin typeface="Arial"/>
                <a:ea typeface="Arial"/>
                <a:cs typeface="Arial"/>
              </a:defRPr>
            </a:lvl8pPr>
            <a:lvl9pPr>
              <a:defRPr sz="1650" b="0">
                <a:solidFill>
                  <a:srgbClr val="53634F"/>
                </a:solidFill>
                <a:latin typeface="Arial"/>
                <a:ea typeface="Arial"/>
                <a:cs typeface="Arial"/>
              </a:defRPr>
            </a:lvl9pPr>
          </a:lstStyle>
          <a:p xmlns:a="http://schemas.openxmlformats.org/drawingml/2006/main">
            <a:pPr>
              <a:defRPr sz="1650" b="0">
                <a:solidFill>
                  <a:srgbClr val="53634F"/>
                </a:solidFill>
                <a:latin typeface="Arial"/>
                <a:ea typeface="Arial"/>
                <a:cs typeface="Arial"/>
              </a:defRPr>
            </a:pPr>
            <a:r>
              <a:rPr sz="1650" b="0">
                <a:solidFill>
                  <a:srgbClr val="53634F"/>
                </a:solidFill>
                <a:latin typeface="Arial"/>
                <a:ea typeface="Arial"/>
                <a:cs typeface="Arial"/>
              </a:rPr>
              <a:t>Public discovery and demo samples stay separate from approved host bookings.</a:t>
            </a:r>
          </a:p>
        </p:txBody>
      </p:sp>
    </p:spTree>
    <p:extLst>
      <p:ext uri="{BB962C8B-B14F-4D97-AF65-F5344CB8AC3E}">
        <p14:creationId xmlns:p14="http://schemas.microsoft.com/office/powerpoint/2010/main" val="1506509674"/>
      </p:ext>
    </p:extLst>
  </p:cSld>
</p:sld>
</file>

<file path=ppt/slides/slide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9DDAE0-414E-4424-AD5A-6E3C001E8FBD}"/>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The first customer and host</a:t>
            </a:r>
          </a:p>
        </p:txBody>
      </p:sp>
      <p:sp>
        <p:nvSpPr>
          <p:cNvPr id="2" name="">
            <a:extLst xmlns:a="http://schemas.openxmlformats.org/drawingml/2006/main">
              <a:ext uri="{FF2B5EF4-FFF2-40B4-BE49-F238E27FC236}">
                <a16:creationId xmlns:a16="http://schemas.microsoft.com/office/drawing/2014/main" id="{7BF432E5-7944-4A13-A618-BFD76749EA0C}"/>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8BD31446-3540-49FB-8C71-34FE36D4E217}"/>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CEEA6C9-E376-4B92-BB16-1681CAEEC9A1}"/>
              </a:ext>
            </a:extLst>
          </p:cNvPr>
          <p:cNvSpPr>
            <a:spLocks xmlns:a="http://schemas.openxmlformats.org/drawingml/2006/main" noGrp="1"/>
          </p:cNvSpPr>
          <p:nvPr/>
        </p:nvSpPr>
        <p:spPr>
          <a:xfrm xmlns:a="http://schemas.openxmlformats.org/drawingml/2006/main">
            <a:off x="685800" y="190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73B2B"/>
                </a:solidFill>
                <a:latin typeface="Arial"/>
                <a:ea typeface="Arial"/>
                <a:cs typeface="Arial"/>
              </a:defRPr>
            </a:defPPr>
            <a:lvl1pPr>
              <a:defRPr sz="2700" b="1">
                <a:solidFill>
                  <a:srgbClr val="173B2B"/>
                </a:solidFill>
                <a:latin typeface="Arial"/>
                <a:ea typeface="Arial"/>
                <a:cs typeface="Arial"/>
              </a:defRPr>
            </a:lvl1pPr>
            <a:lvl2pPr>
              <a:defRPr sz="2700" b="1">
                <a:solidFill>
                  <a:srgbClr val="173B2B"/>
                </a:solidFill>
                <a:latin typeface="Arial"/>
                <a:ea typeface="Arial"/>
                <a:cs typeface="Arial"/>
              </a:defRPr>
            </a:lvl2pPr>
            <a:lvl3pPr>
              <a:defRPr sz="2700" b="1">
                <a:solidFill>
                  <a:srgbClr val="173B2B"/>
                </a:solidFill>
                <a:latin typeface="Arial"/>
                <a:ea typeface="Arial"/>
                <a:cs typeface="Arial"/>
              </a:defRPr>
            </a:lvl3pPr>
            <a:lvl4pPr>
              <a:defRPr sz="2700" b="1">
                <a:solidFill>
                  <a:srgbClr val="173B2B"/>
                </a:solidFill>
                <a:latin typeface="Arial"/>
                <a:ea typeface="Arial"/>
                <a:cs typeface="Arial"/>
              </a:defRPr>
            </a:lvl4pPr>
            <a:lvl5pPr>
              <a:defRPr sz="2700" b="1">
                <a:solidFill>
                  <a:srgbClr val="173B2B"/>
                </a:solidFill>
                <a:latin typeface="Arial"/>
                <a:ea typeface="Arial"/>
                <a:cs typeface="Arial"/>
              </a:defRPr>
            </a:lvl5pPr>
            <a:lvl6pPr>
              <a:defRPr sz="2700" b="1">
                <a:solidFill>
                  <a:srgbClr val="173B2B"/>
                </a:solidFill>
                <a:latin typeface="Arial"/>
                <a:ea typeface="Arial"/>
                <a:cs typeface="Arial"/>
              </a:defRPr>
            </a:lvl6pPr>
            <a:lvl7pPr>
              <a:defRPr sz="2700" b="1">
                <a:solidFill>
                  <a:srgbClr val="173B2B"/>
                </a:solidFill>
                <a:latin typeface="Arial"/>
                <a:ea typeface="Arial"/>
                <a:cs typeface="Arial"/>
              </a:defRPr>
            </a:lvl7pPr>
            <a:lvl8pPr>
              <a:defRPr sz="2700" b="1">
                <a:solidFill>
                  <a:srgbClr val="173B2B"/>
                </a:solidFill>
                <a:latin typeface="Arial"/>
                <a:ea typeface="Arial"/>
                <a:cs typeface="Arial"/>
              </a:defRPr>
            </a:lvl8pPr>
            <a:lvl9pPr>
              <a:defRPr sz="2700" b="1">
                <a:solidFill>
                  <a:srgbClr val="173B2B"/>
                </a:solidFill>
                <a:latin typeface="Arial"/>
                <a:ea typeface="Arial"/>
                <a:cs typeface="Arial"/>
              </a:defRPr>
            </a:lvl9pPr>
          </a:lstStyle>
          <a:p xmlns:a="http://schemas.openxmlformats.org/drawingml/2006/main">
            <a:pPr>
              <a:defRPr sz="2700" b="1">
                <a:solidFill>
                  <a:srgbClr val="173B2B"/>
                </a:solidFill>
                <a:latin typeface="Arial"/>
                <a:ea typeface="Arial"/>
                <a:cs typeface="Arial"/>
              </a:defRPr>
            </a:pPr>
            <a:r>
              <a:rPr sz="2700" b="1">
                <a:solidFill>
                  <a:srgbClr val="173B2B"/>
                </a:solidFill>
                <a:latin typeface="Arial"/>
                <a:ea typeface="Arial"/>
                <a:cs typeface="Arial"/>
              </a:rPr>
              <a:t>Drivers planning an AC top-up</a:t>
            </a:r>
          </a:p>
        </p:txBody>
      </p:sp>
      <p:sp>
        <p:nvSpPr>
          <p:cNvPr id="5" name="">
            <a:extLst xmlns:a="http://schemas.openxmlformats.org/drawingml/2006/main">
              <a:ext uri="{FF2B5EF4-FFF2-40B4-BE49-F238E27FC236}">
                <a16:creationId xmlns:a16="http://schemas.microsoft.com/office/drawing/2014/main" id="{FDA2BC9B-2555-4431-80D8-D1EC9F417A1B}"/>
              </a:ext>
            </a:extLst>
          </p:cNvPr>
          <p:cNvSpPr>
            <a:spLocks xmlns:a="http://schemas.openxmlformats.org/drawingml/2006/main" noGrp="1"/>
          </p:cNvSpPr>
          <p:nvPr/>
        </p:nvSpPr>
        <p:spPr>
          <a:xfrm xmlns:a="http://schemas.openxmlformats.org/drawingml/2006/main">
            <a:off x="685800" y="295275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34F"/>
                </a:solidFill>
                <a:latin typeface="Arial"/>
                <a:ea typeface="Arial"/>
                <a:cs typeface="Arial"/>
              </a:defRPr>
            </a:defPPr>
            <a:lvl1pPr>
              <a:defRPr sz="2100" b="0">
                <a:solidFill>
                  <a:srgbClr val="53634F"/>
                </a:solidFill>
                <a:latin typeface="Arial"/>
                <a:ea typeface="Arial"/>
                <a:cs typeface="Arial"/>
              </a:defRPr>
            </a:lvl1pPr>
            <a:lvl2pPr>
              <a:defRPr sz="2100" b="0">
                <a:solidFill>
                  <a:srgbClr val="53634F"/>
                </a:solidFill>
                <a:latin typeface="Arial"/>
                <a:ea typeface="Arial"/>
                <a:cs typeface="Arial"/>
              </a:defRPr>
            </a:lvl2pPr>
            <a:lvl3pPr>
              <a:defRPr sz="2100" b="0">
                <a:solidFill>
                  <a:srgbClr val="53634F"/>
                </a:solidFill>
                <a:latin typeface="Arial"/>
                <a:ea typeface="Arial"/>
                <a:cs typeface="Arial"/>
              </a:defRPr>
            </a:lvl3pPr>
            <a:lvl4pPr>
              <a:defRPr sz="2100" b="0">
                <a:solidFill>
                  <a:srgbClr val="53634F"/>
                </a:solidFill>
                <a:latin typeface="Arial"/>
                <a:ea typeface="Arial"/>
                <a:cs typeface="Arial"/>
              </a:defRPr>
            </a:lvl4pPr>
            <a:lvl5pPr>
              <a:defRPr sz="2100" b="0">
                <a:solidFill>
                  <a:srgbClr val="53634F"/>
                </a:solidFill>
                <a:latin typeface="Arial"/>
                <a:ea typeface="Arial"/>
                <a:cs typeface="Arial"/>
              </a:defRPr>
            </a:lvl5pPr>
            <a:lvl6pPr>
              <a:defRPr sz="2100" b="0">
                <a:solidFill>
                  <a:srgbClr val="53634F"/>
                </a:solidFill>
                <a:latin typeface="Arial"/>
                <a:ea typeface="Arial"/>
                <a:cs typeface="Arial"/>
              </a:defRPr>
            </a:lvl6pPr>
            <a:lvl7pPr>
              <a:defRPr sz="2100" b="0">
                <a:solidFill>
                  <a:srgbClr val="53634F"/>
                </a:solidFill>
                <a:latin typeface="Arial"/>
                <a:ea typeface="Arial"/>
                <a:cs typeface="Arial"/>
              </a:defRPr>
            </a:lvl7pPr>
            <a:lvl8pPr>
              <a:defRPr sz="2100" b="0">
                <a:solidFill>
                  <a:srgbClr val="53634F"/>
                </a:solidFill>
                <a:latin typeface="Arial"/>
                <a:ea typeface="Arial"/>
                <a:cs typeface="Arial"/>
              </a:defRPr>
            </a:lvl8pPr>
            <a:lvl9pPr>
              <a:defRPr sz="2100" b="0">
                <a:solidFill>
                  <a:srgbClr val="53634F"/>
                </a:solidFill>
                <a:latin typeface="Arial"/>
                <a:ea typeface="Arial"/>
                <a:cs typeface="Arial"/>
              </a:defRPr>
            </a:lvl9pPr>
          </a:lstStyle>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During a visit, errand or workday</a:t>
            </a:r>
          </a:p>
          <a:p xmlns:a="http://schemas.openxmlformats.org/drawingml/2006/main">
            <a:r>
              <a:t/>
            </a:r>
          </a:p>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A compatible vehicle</a:t>
            </a:r>
          </a:p>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A useful charging dwell time</a:t>
            </a:r>
          </a:p>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An accessible parking space</a:t>
            </a:r>
          </a:p>
        </p:txBody>
      </p:sp>
      <p:sp>
        <p:nvSpPr>
          <p:cNvPr id="6" name="">
            <a:extLst xmlns:a="http://schemas.openxmlformats.org/drawingml/2006/main">
              <a:ext uri="{FF2B5EF4-FFF2-40B4-BE49-F238E27FC236}">
                <a16:creationId xmlns:a16="http://schemas.microsoft.com/office/drawing/2014/main" id="{FD354FBA-3D97-49BD-97A8-72817150A54B}"/>
              </a:ext>
            </a:extLst>
          </p:cNvPr>
          <p:cNvSpPr>
            <a:spLocks xmlns:a="http://schemas.openxmlformats.org/drawingml/2006/main" noGrp="1"/>
          </p:cNvSpPr>
          <p:nvPr/>
        </p:nvSpPr>
        <p:spPr>
          <a:xfrm xmlns:a="http://schemas.openxmlformats.org/drawingml/2006/main">
            <a:off x="6705600" y="19050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73B2B"/>
                </a:solidFill>
                <a:latin typeface="Arial"/>
                <a:ea typeface="Arial"/>
                <a:cs typeface="Arial"/>
              </a:defRPr>
            </a:defPPr>
            <a:lvl1pPr>
              <a:defRPr sz="2700" b="1">
                <a:solidFill>
                  <a:srgbClr val="173B2B"/>
                </a:solidFill>
                <a:latin typeface="Arial"/>
                <a:ea typeface="Arial"/>
                <a:cs typeface="Arial"/>
              </a:defRPr>
            </a:lvl1pPr>
            <a:lvl2pPr>
              <a:defRPr sz="2700" b="1">
                <a:solidFill>
                  <a:srgbClr val="173B2B"/>
                </a:solidFill>
                <a:latin typeface="Arial"/>
                <a:ea typeface="Arial"/>
                <a:cs typeface="Arial"/>
              </a:defRPr>
            </a:lvl2pPr>
            <a:lvl3pPr>
              <a:defRPr sz="2700" b="1">
                <a:solidFill>
                  <a:srgbClr val="173B2B"/>
                </a:solidFill>
                <a:latin typeface="Arial"/>
                <a:ea typeface="Arial"/>
                <a:cs typeface="Arial"/>
              </a:defRPr>
            </a:lvl3pPr>
            <a:lvl4pPr>
              <a:defRPr sz="2700" b="1">
                <a:solidFill>
                  <a:srgbClr val="173B2B"/>
                </a:solidFill>
                <a:latin typeface="Arial"/>
                <a:ea typeface="Arial"/>
                <a:cs typeface="Arial"/>
              </a:defRPr>
            </a:lvl4pPr>
            <a:lvl5pPr>
              <a:defRPr sz="2700" b="1">
                <a:solidFill>
                  <a:srgbClr val="173B2B"/>
                </a:solidFill>
                <a:latin typeface="Arial"/>
                <a:ea typeface="Arial"/>
                <a:cs typeface="Arial"/>
              </a:defRPr>
            </a:lvl5pPr>
            <a:lvl6pPr>
              <a:defRPr sz="2700" b="1">
                <a:solidFill>
                  <a:srgbClr val="173B2B"/>
                </a:solidFill>
                <a:latin typeface="Arial"/>
                <a:ea typeface="Arial"/>
                <a:cs typeface="Arial"/>
              </a:defRPr>
            </a:lvl6pPr>
            <a:lvl7pPr>
              <a:defRPr sz="2700" b="1">
                <a:solidFill>
                  <a:srgbClr val="173B2B"/>
                </a:solidFill>
                <a:latin typeface="Arial"/>
                <a:ea typeface="Arial"/>
                <a:cs typeface="Arial"/>
              </a:defRPr>
            </a:lvl7pPr>
            <a:lvl8pPr>
              <a:defRPr sz="2700" b="1">
                <a:solidFill>
                  <a:srgbClr val="173B2B"/>
                </a:solidFill>
                <a:latin typeface="Arial"/>
                <a:ea typeface="Arial"/>
                <a:cs typeface="Arial"/>
              </a:defRPr>
            </a:lvl8pPr>
            <a:lvl9pPr>
              <a:defRPr sz="2700" b="1">
                <a:solidFill>
                  <a:srgbClr val="173B2B"/>
                </a:solidFill>
                <a:latin typeface="Arial"/>
                <a:ea typeface="Arial"/>
                <a:cs typeface="Arial"/>
              </a:defRPr>
            </a:lvl9pPr>
          </a:lstStyle>
          <a:p xmlns:a="http://schemas.openxmlformats.org/drawingml/2006/main">
            <a:pPr>
              <a:defRPr sz="2700" b="1">
                <a:solidFill>
                  <a:srgbClr val="173B2B"/>
                </a:solidFill>
                <a:latin typeface="Arial"/>
                <a:ea typeface="Arial"/>
                <a:cs typeface="Arial"/>
              </a:defRPr>
            </a:pPr>
            <a:r>
              <a:rPr sz="2700" b="1">
                <a:solidFill>
                  <a:srgbClr val="173B2B"/>
                </a:solidFill>
                <a:latin typeface="Arial"/>
                <a:ea typeface="Arial"/>
                <a:cs typeface="Arial"/>
              </a:rPr>
              <a:t>Owners with spare charging hours</a:t>
            </a:r>
          </a:p>
        </p:txBody>
      </p:sp>
      <p:sp>
        <p:nvSpPr>
          <p:cNvPr id="7" name="">
            <a:extLst xmlns:a="http://schemas.openxmlformats.org/drawingml/2006/main">
              <a:ext uri="{FF2B5EF4-FFF2-40B4-BE49-F238E27FC236}">
                <a16:creationId xmlns:a16="http://schemas.microsoft.com/office/drawing/2014/main" id="{E886A9E9-6309-41F2-BC49-E20514D90760}"/>
              </a:ext>
            </a:extLst>
          </p:cNvPr>
          <p:cNvSpPr>
            <a:spLocks xmlns:a="http://schemas.openxmlformats.org/drawingml/2006/main" noGrp="1"/>
          </p:cNvSpPr>
          <p:nvPr/>
        </p:nvSpPr>
        <p:spPr>
          <a:xfrm xmlns:a="http://schemas.openxmlformats.org/drawingml/2006/main">
            <a:off x="6705600" y="295275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34F"/>
                </a:solidFill>
                <a:latin typeface="Arial"/>
                <a:ea typeface="Arial"/>
                <a:cs typeface="Arial"/>
              </a:defRPr>
            </a:defPPr>
            <a:lvl1pPr>
              <a:defRPr sz="2100" b="0">
                <a:solidFill>
                  <a:srgbClr val="53634F"/>
                </a:solidFill>
                <a:latin typeface="Arial"/>
                <a:ea typeface="Arial"/>
                <a:cs typeface="Arial"/>
              </a:defRPr>
            </a:lvl1pPr>
            <a:lvl2pPr>
              <a:defRPr sz="2100" b="0">
                <a:solidFill>
                  <a:srgbClr val="53634F"/>
                </a:solidFill>
                <a:latin typeface="Arial"/>
                <a:ea typeface="Arial"/>
                <a:cs typeface="Arial"/>
              </a:defRPr>
            </a:lvl2pPr>
            <a:lvl3pPr>
              <a:defRPr sz="2100" b="0">
                <a:solidFill>
                  <a:srgbClr val="53634F"/>
                </a:solidFill>
                <a:latin typeface="Arial"/>
                <a:ea typeface="Arial"/>
                <a:cs typeface="Arial"/>
              </a:defRPr>
            </a:lvl3pPr>
            <a:lvl4pPr>
              <a:defRPr sz="2100" b="0">
                <a:solidFill>
                  <a:srgbClr val="53634F"/>
                </a:solidFill>
                <a:latin typeface="Arial"/>
                <a:ea typeface="Arial"/>
                <a:cs typeface="Arial"/>
              </a:defRPr>
            </a:lvl4pPr>
            <a:lvl5pPr>
              <a:defRPr sz="2100" b="0">
                <a:solidFill>
                  <a:srgbClr val="53634F"/>
                </a:solidFill>
                <a:latin typeface="Arial"/>
                <a:ea typeface="Arial"/>
                <a:cs typeface="Arial"/>
              </a:defRPr>
            </a:lvl5pPr>
            <a:lvl6pPr>
              <a:defRPr sz="2100" b="0">
                <a:solidFill>
                  <a:srgbClr val="53634F"/>
                </a:solidFill>
                <a:latin typeface="Arial"/>
                <a:ea typeface="Arial"/>
                <a:cs typeface="Arial"/>
              </a:defRPr>
            </a:lvl6pPr>
            <a:lvl7pPr>
              <a:defRPr sz="2100" b="0">
                <a:solidFill>
                  <a:srgbClr val="53634F"/>
                </a:solidFill>
                <a:latin typeface="Arial"/>
                <a:ea typeface="Arial"/>
                <a:cs typeface="Arial"/>
              </a:defRPr>
            </a:lvl7pPr>
            <a:lvl8pPr>
              <a:defRPr sz="2100" b="0">
                <a:solidFill>
                  <a:srgbClr val="53634F"/>
                </a:solidFill>
                <a:latin typeface="Arial"/>
                <a:ea typeface="Arial"/>
                <a:cs typeface="Arial"/>
              </a:defRPr>
            </a:lvl8pPr>
            <a:lvl9pPr>
              <a:defRPr sz="2100" b="0">
                <a:solidFill>
                  <a:srgbClr val="53634F"/>
                </a:solidFill>
                <a:latin typeface="Arial"/>
                <a:ea typeface="Arial"/>
                <a:cs typeface="Arial"/>
              </a:defRPr>
            </a:lvl9pPr>
          </a:lstStyle>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Type 2 AC equipment</a:t>
            </a:r>
          </a:p>
          <a:p xmlns:a="http://schemas.openxmlformats.org/drawingml/2006/main">
            <a:r>
              <a:t/>
            </a:r>
          </a:p>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Permission to admit visitors</a:t>
            </a:r>
          </a:p>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Clear entry and parking rules</a:t>
            </a:r>
          </a:p>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Reviewed equipment and metering</a:t>
            </a:r>
          </a:p>
        </p:txBody>
      </p:sp>
      <p:sp>
        <p:nvSpPr>
          <p:cNvPr id="8" name="">
            <a:extLst xmlns:a="http://schemas.openxmlformats.org/drawingml/2006/main">
              <a:ext uri="{FF2B5EF4-FFF2-40B4-BE49-F238E27FC236}">
                <a16:creationId xmlns:a16="http://schemas.microsoft.com/office/drawing/2014/main" id="{338F78C3-42F7-46E5-9DAE-6C49AA436513}"/>
              </a:ext>
            </a:extLst>
          </p:cNvPr>
          <p:cNvSpPr>
            <a:spLocks xmlns:a="http://schemas.openxmlformats.org/drawingml/2006/main" noGrp="1"/>
          </p:cNvSpPr>
          <p:nvPr/>
        </p:nvSpPr>
        <p:spPr>
          <a:xfrm xmlns:a="http://schemas.openxmlformats.org/drawingml/2006/main">
            <a:off x="685800" y="587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B2B"/>
                </a:solidFill>
                <a:latin typeface="Arial"/>
                <a:ea typeface="Arial"/>
                <a:cs typeface="Arial"/>
              </a:defRPr>
            </a:defPPr>
            <a:lvl1pPr>
              <a:defRPr sz="1875" b="0">
                <a:solidFill>
                  <a:srgbClr val="173B2B"/>
                </a:solidFill>
                <a:latin typeface="Arial"/>
                <a:ea typeface="Arial"/>
                <a:cs typeface="Arial"/>
              </a:defRPr>
            </a:lvl1pPr>
            <a:lvl2pPr>
              <a:defRPr sz="1875" b="0">
                <a:solidFill>
                  <a:srgbClr val="173B2B"/>
                </a:solidFill>
                <a:latin typeface="Arial"/>
                <a:ea typeface="Arial"/>
                <a:cs typeface="Arial"/>
              </a:defRPr>
            </a:lvl2pPr>
            <a:lvl3pPr>
              <a:defRPr sz="1875" b="0">
                <a:solidFill>
                  <a:srgbClr val="173B2B"/>
                </a:solidFill>
                <a:latin typeface="Arial"/>
                <a:ea typeface="Arial"/>
                <a:cs typeface="Arial"/>
              </a:defRPr>
            </a:lvl3pPr>
            <a:lvl4pPr>
              <a:defRPr sz="1875" b="0">
                <a:solidFill>
                  <a:srgbClr val="173B2B"/>
                </a:solidFill>
                <a:latin typeface="Arial"/>
                <a:ea typeface="Arial"/>
                <a:cs typeface="Arial"/>
              </a:defRPr>
            </a:lvl4pPr>
            <a:lvl5pPr>
              <a:defRPr sz="1875" b="0">
                <a:solidFill>
                  <a:srgbClr val="173B2B"/>
                </a:solidFill>
                <a:latin typeface="Arial"/>
                <a:ea typeface="Arial"/>
                <a:cs typeface="Arial"/>
              </a:defRPr>
            </a:lvl5pPr>
            <a:lvl6pPr>
              <a:defRPr sz="1875" b="0">
                <a:solidFill>
                  <a:srgbClr val="173B2B"/>
                </a:solidFill>
                <a:latin typeface="Arial"/>
                <a:ea typeface="Arial"/>
                <a:cs typeface="Arial"/>
              </a:defRPr>
            </a:lvl6pPr>
            <a:lvl7pPr>
              <a:defRPr sz="1875" b="0">
                <a:solidFill>
                  <a:srgbClr val="173B2B"/>
                </a:solidFill>
                <a:latin typeface="Arial"/>
                <a:ea typeface="Arial"/>
                <a:cs typeface="Arial"/>
              </a:defRPr>
            </a:lvl7pPr>
            <a:lvl8pPr>
              <a:defRPr sz="1875" b="0">
                <a:solidFill>
                  <a:srgbClr val="173B2B"/>
                </a:solidFill>
                <a:latin typeface="Arial"/>
                <a:ea typeface="Arial"/>
                <a:cs typeface="Arial"/>
              </a:defRPr>
            </a:lvl8pPr>
            <a:lvl9pPr>
              <a:defRPr sz="1875" b="0">
                <a:solidFill>
                  <a:srgbClr val="173B2B"/>
                </a:solidFill>
                <a:latin typeface="Arial"/>
                <a:ea typeface="Arial"/>
                <a:cs typeface="Arial"/>
              </a:defRPr>
            </a:lvl9pPr>
          </a:lstStyle>
          <a:p xmlns:a="http://schemas.openxmlformats.org/drawingml/2006/main">
            <a:pPr>
              <a:defRPr sz="1875" b="0">
                <a:solidFill>
                  <a:srgbClr val="173B2B"/>
                </a:solidFill>
                <a:latin typeface="Arial"/>
                <a:ea typeface="Arial"/>
                <a:cs typeface="Arial"/>
              </a:defRPr>
            </a:pPr>
            <a:r>
              <a:rPr sz="1875" b="0">
                <a:solidFill>
                  <a:srgbClr val="173B2B"/>
                </a:solidFill>
                <a:latin typeface="Arial"/>
                <a:ea typeface="Arial"/>
                <a:cs typeface="Arial"/>
              </a:rPr>
              <a:t>The pilot tests willingness to share and repeat demand before expansion.</a:t>
            </a:r>
          </a:p>
        </p:txBody>
      </p:sp>
    </p:spTree>
    <p:extLst>
      <p:ext uri="{BB962C8B-B14F-4D97-AF65-F5344CB8AC3E}">
        <p14:creationId xmlns:p14="http://schemas.microsoft.com/office/powerpoint/2010/main" val="460290161"/>
      </p:ext>
    </p:extLst>
  </p:cSld>
</p:sld>
</file>

<file path=ppt/slides/slide5.xml><?xml version="1.0" encoding="utf-8"?>
<p:sld xmlns:p="http://schemas.openxmlformats.org/presentationml/2006/main">
  <p:cSld>
    <p:bg>
      <p:bgPr>
        <a:solidFill xmlns:a="http://schemas.openxmlformats.org/drawingml/2006/main">
          <a:srgbClr val="173B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5F313C-B14D-4B9D-AA41-C24536D60716}"/>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AFBF7"/>
                </a:solidFill>
                <a:latin typeface="Arial"/>
                <a:ea typeface="Arial"/>
                <a:cs typeface="Arial"/>
              </a:defRPr>
            </a:defPPr>
            <a:lvl1pPr>
              <a:defRPr sz="3600" b="1">
                <a:solidFill>
                  <a:srgbClr val="FAFBF7"/>
                </a:solidFill>
                <a:latin typeface="Arial"/>
                <a:ea typeface="Arial"/>
                <a:cs typeface="Arial"/>
              </a:defRPr>
            </a:lvl1pPr>
            <a:lvl2pPr>
              <a:defRPr sz="3600" b="1">
                <a:solidFill>
                  <a:srgbClr val="FAFBF7"/>
                </a:solidFill>
                <a:latin typeface="Arial"/>
                <a:ea typeface="Arial"/>
                <a:cs typeface="Arial"/>
              </a:defRPr>
            </a:lvl2pPr>
            <a:lvl3pPr>
              <a:defRPr sz="3600" b="1">
                <a:solidFill>
                  <a:srgbClr val="FAFBF7"/>
                </a:solidFill>
                <a:latin typeface="Arial"/>
                <a:ea typeface="Arial"/>
                <a:cs typeface="Arial"/>
              </a:defRPr>
            </a:lvl3pPr>
            <a:lvl4pPr>
              <a:defRPr sz="3600" b="1">
                <a:solidFill>
                  <a:srgbClr val="FAFBF7"/>
                </a:solidFill>
                <a:latin typeface="Arial"/>
                <a:ea typeface="Arial"/>
                <a:cs typeface="Arial"/>
              </a:defRPr>
            </a:lvl4pPr>
            <a:lvl5pPr>
              <a:defRPr sz="3600" b="1">
                <a:solidFill>
                  <a:srgbClr val="FAFBF7"/>
                </a:solidFill>
                <a:latin typeface="Arial"/>
                <a:ea typeface="Arial"/>
                <a:cs typeface="Arial"/>
              </a:defRPr>
            </a:lvl5pPr>
            <a:lvl6pPr>
              <a:defRPr sz="3600" b="1">
                <a:solidFill>
                  <a:srgbClr val="FAFBF7"/>
                </a:solidFill>
                <a:latin typeface="Arial"/>
                <a:ea typeface="Arial"/>
                <a:cs typeface="Arial"/>
              </a:defRPr>
            </a:lvl6pPr>
            <a:lvl7pPr>
              <a:defRPr sz="3600" b="1">
                <a:solidFill>
                  <a:srgbClr val="FAFBF7"/>
                </a:solidFill>
                <a:latin typeface="Arial"/>
                <a:ea typeface="Arial"/>
                <a:cs typeface="Arial"/>
              </a:defRPr>
            </a:lvl7pPr>
            <a:lvl8pPr>
              <a:defRPr sz="3600" b="1">
                <a:solidFill>
                  <a:srgbClr val="FAFBF7"/>
                </a:solidFill>
                <a:latin typeface="Arial"/>
                <a:ea typeface="Arial"/>
                <a:cs typeface="Arial"/>
              </a:defRPr>
            </a:lvl8pPr>
            <a:lvl9pPr>
              <a:defRPr sz="3600" b="1">
                <a:solidFill>
                  <a:srgbClr val="FAFBF7"/>
                </a:solidFill>
                <a:latin typeface="Arial"/>
                <a:ea typeface="Arial"/>
                <a:cs typeface="Arial"/>
              </a:defRPr>
            </a:lvl9pPr>
          </a:lstStyle>
          <a:p xmlns:a="http://schemas.openxmlformats.org/drawingml/2006/main">
            <a:pPr>
              <a:defRPr sz="3600" b="1">
                <a:solidFill>
                  <a:srgbClr val="FAFBF7"/>
                </a:solidFill>
                <a:latin typeface="Arial"/>
                <a:ea typeface="Arial"/>
                <a:cs typeface="Arial"/>
              </a:defRPr>
            </a:pPr>
            <a:r>
              <a:rPr sz="3600" b="1">
                <a:solidFill>
                  <a:srgbClr val="FAFBF7"/>
                </a:solidFill>
                <a:latin typeface="Arial"/>
                <a:ea typeface="Arial"/>
                <a:cs typeface="Arial"/>
              </a:rPr>
              <a:t>A concentrated first market</a:t>
            </a:r>
          </a:p>
        </p:txBody>
      </p:sp>
      <p:sp>
        <p:nvSpPr>
          <p:cNvPr id="2" name="">
            <a:extLst xmlns:a="http://schemas.openxmlformats.org/drawingml/2006/main">
              <a:ext uri="{FF2B5EF4-FFF2-40B4-BE49-F238E27FC236}">
                <a16:creationId xmlns:a16="http://schemas.microsoft.com/office/drawing/2014/main" id="{8A8432CD-3C2E-402F-9AD5-7F5DD93E152C}"/>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5EE81"/>
                </a:solidFill>
                <a:latin typeface="Arial"/>
                <a:ea typeface="Arial"/>
                <a:cs typeface="Arial"/>
              </a:defRPr>
            </a:defPPr>
            <a:lvl1pPr>
              <a:defRPr sz="1350" b="0">
                <a:solidFill>
                  <a:srgbClr val="D5EE81"/>
                </a:solidFill>
                <a:latin typeface="Arial"/>
                <a:ea typeface="Arial"/>
                <a:cs typeface="Arial"/>
              </a:defRPr>
            </a:lvl1pPr>
            <a:lvl2pPr>
              <a:defRPr sz="1350" b="0">
                <a:solidFill>
                  <a:srgbClr val="D5EE81"/>
                </a:solidFill>
                <a:latin typeface="Arial"/>
                <a:ea typeface="Arial"/>
                <a:cs typeface="Arial"/>
              </a:defRPr>
            </a:lvl2pPr>
            <a:lvl3pPr>
              <a:defRPr sz="1350" b="0">
                <a:solidFill>
                  <a:srgbClr val="D5EE81"/>
                </a:solidFill>
                <a:latin typeface="Arial"/>
                <a:ea typeface="Arial"/>
                <a:cs typeface="Arial"/>
              </a:defRPr>
            </a:lvl3pPr>
            <a:lvl4pPr>
              <a:defRPr sz="1350" b="0">
                <a:solidFill>
                  <a:srgbClr val="D5EE81"/>
                </a:solidFill>
                <a:latin typeface="Arial"/>
                <a:ea typeface="Arial"/>
                <a:cs typeface="Arial"/>
              </a:defRPr>
            </a:lvl4pPr>
            <a:lvl5pPr>
              <a:defRPr sz="1350" b="0">
                <a:solidFill>
                  <a:srgbClr val="D5EE81"/>
                </a:solidFill>
                <a:latin typeface="Arial"/>
                <a:ea typeface="Arial"/>
                <a:cs typeface="Arial"/>
              </a:defRPr>
            </a:lvl5pPr>
            <a:lvl6pPr>
              <a:defRPr sz="1350" b="0">
                <a:solidFill>
                  <a:srgbClr val="D5EE81"/>
                </a:solidFill>
                <a:latin typeface="Arial"/>
                <a:ea typeface="Arial"/>
                <a:cs typeface="Arial"/>
              </a:defRPr>
            </a:lvl6pPr>
            <a:lvl7pPr>
              <a:defRPr sz="1350" b="0">
                <a:solidFill>
                  <a:srgbClr val="D5EE81"/>
                </a:solidFill>
                <a:latin typeface="Arial"/>
                <a:ea typeface="Arial"/>
                <a:cs typeface="Arial"/>
              </a:defRPr>
            </a:lvl7pPr>
            <a:lvl8pPr>
              <a:defRPr sz="1350" b="0">
                <a:solidFill>
                  <a:srgbClr val="D5EE81"/>
                </a:solidFill>
                <a:latin typeface="Arial"/>
                <a:ea typeface="Arial"/>
                <a:cs typeface="Arial"/>
              </a:defRPr>
            </a:lvl8pPr>
            <a:lvl9pPr>
              <a:defRPr sz="1350" b="0">
                <a:solidFill>
                  <a:srgbClr val="D5EE81"/>
                </a:solidFill>
                <a:latin typeface="Arial"/>
                <a:ea typeface="Arial"/>
                <a:cs typeface="Arial"/>
              </a:defRPr>
            </a:lvl9pPr>
          </a:lstStyle>
          <a:p xmlns:a="http://schemas.openxmlformats.org/drawingml/2006/main">
            <a:pPr>
              <a:defRPr sz="1350" b="0">
                <a:solidFill>
                  <a:srgbClr val="D5EE81"/>
                </a:solidFill>
                <a:latin typeface="Arial"/>
                <a:ea typeface="Arial"/>
                <a:cs typeface="Arial"/>
              </a:defRPr>
            </a:pPr>
            <a:r>
              <a:rPr sz="1350" b="0">
                <a:solidFill>
                  <a:srgbClr val="D5EE81"/>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75B01EC8-6CC1-49E5-8E48-E61D14E9EC6B}"/>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5EE81"/>
                </a:solidFill>
                <a:latin typeface="Arial"/>
                <a:ea typeface="Arial"/>
                <a:cs typeface="Arial"/>
              </a:defRPr>
            </a:defPPr>
            <a:lvl1pPr>
              <a:defRPr sz="1350" b="0">
                <a:solidFill>
                  <a:srgbClr val="D5EE81"/>
                </a:solidFill>
                <a:latin typeface="Arial"/>
                <a:ea typeface="Arial"/>
                <a:cs typeface="Arial"/>
              </a:defRPr>
            </a:lvl1pPr>
            <a:lvl2pPr>
              <a:defRPr sz="1350" b="0">
                <a:solidFill>
                  <a:srgbClr val="D5EE81"/>
                </a:solidFill>
                <a:latin typeface="Arial"/>
                <a:ea typeface="Arial"/>
                <a:cs typeface="Arial"/>
              </a:defRPr>
            </a:lvl2pPr>
            <a:lvl3pPr>
              <a:defRPr sz="1350" b="0">
                <a:solidFill>
                  <a:srgbClr val="D5EE81"/>
                </a:solidFill>
                <a:latin typeface="Arial"/>
                <a:ea typeface="Arial"/>
                <a:cs typeface="Arial"/>
              </a:defRPr>
            </a:lvl3pPr>
            <a:lvl4pPr>
              <a:defRPr sz="1350" b="0">
                <a:solidFill>
                  <a:srgbClr val="D5EE81"/>
                </a:solidFill>
                <a:latin typeface="Arial"/>
                <a:ea typeface="Arial"/>
                <a:cs typeface="Arial"/>
              </a:defRPr>
            </a:lvl4pPr>
            <a:lvl5pPr>
              <a:defRPr sz="1350" b="0">
                <a:solidFill>
                  <a:srgbClr val="D5EE81"/>
                </a:solidFill>
                <a:latin typeface="Arial"/>
                <a:ea typeface="Arial"/>
                <a:cs typeface="Arial"/>
              </a:defRPr>
            </a:lvl5pPr>
            <a:lvl6pPr>
              <a:defRPr sz="1350" b="0">
                <a:solidFill>
                  <a:srgbClr val="D5EE81"/>
                </a:solidFill>
                <a:latin typeface="Arial"/>
                <a:ea typeface="Arial"/>
                <a:cs typeface="Arial"/>
              </a:defRPr>
            </a:lvl6pPr>
            <a:lvl7pPr>
              <a:defRPr sz="1350" b="0">
                <a:solidFill>
                  <a:srgbClr val="D5EE81"/>
                </a:solidFill>
                <a:latin typeface="Arial"/>
                <a:ea typeface="Arial"/>
                <a:cs typeface="Arial"/>
              </a:defRPr>
            </a:lvl7pPr>
            <a:lvl8pPr>
              <a:defRPr sz="1350" b="0">
                <a:solidFill>
                  <a:srgbClr val="D5EE81"/>
                </a:solidFill>
                <a:latin typeface="Arial"/>
                <a:ea typeface="Arial"/>
                <a:cs typeface="Arial"/>
              </a:defRPr>
            </a:lvl8pPr>
            <a:lvl9pPr>
              <a:defRPr sz="1350" b="0">
                <a:solidFill>
                  <a:srgbClr val="D5EE81"/>
                </a:solidFill>
                <a:latin typeface="Arial"/>
                <a:ea typeface="Arial"/>
                <a:cs typeface="Arial"/>
              </a:defRPr>
            </a:lvl9pPr>
          </a:lstStyle>
          <a:p xmlns:a="http://schemas.openxmlformats.org/drawingml/2006/main">
            <a:pPr>
              <a:defRPr sz="1350" b="0">
                <a:solidFill>
                  <a:srgbClr val="D5EE81"/>
                </a:solidFill>
                <a:latin typeface="Arial"/>
                <a:ea typeface="Arial"/>
                <a:cs typeface="Arial"/>
              </a:defRPr>
            </a:pPr>
            <a:r>
              <a:rPr sz="1350" b="0">
                <a:solidFill>
                  <a:srgbClr val="D5EE8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777EBBC-43BF-4492-BCA6-0E0F8AD843EA}"/>
              </a:ext>
            </a:extLst>
          </p:cNvPr>
          <p:cNvSpPr>
            <a:spLocks xmlns:a="http://schemas.openxmlformats.org/drawingml/2006/main" noGrp="1"/>
          </p:cNvSpPr>
          <p:nvPr/>
        </p:nvSpPr>
        <p:spPr>
          <a:xfrm xmlns:a="http://schemas.openxmlformats.org/drawingml/2006/main">
            <a:off x="685800" y="183832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AFBF7"/>
                </a:solidFill>
                <a:latin typeface="Arial"/>
                <a:ea typeface="Arial"/>
                <a:cs typeface="Arial"/>
              </a:defRPr>
            </a:defPPr>
            <a:lvl1pPr>
              <a:defRPr sz="4350" b="1">
                <a:solidFill>
                  <a:srgbClr val="FAFBF7"/>
                </a:solidFill>
                <a:latin typeface="Arial"/>
                <a:ea typeface="Arial"/>
                <a:cs typeface="Arial"/>
              </a:defRPr>
            </a:lvl1pPr>
            <a:lvl2pPr>
              <a:defRPr sz="4350" b="1">
                <a:solidFill>
                  <a:srgbClr val="FAFBF7"/>
                </a:solidFill>
                <a:latin typeface="Arial"/>
                <a:ea typeface="Arial"/>
                <a:cs typeface="Arial"/>
              </a:defRPr>
            </a:lvl2pPr>
            <a:lvl3pPr>
              <a:defRPr sz="4350" b="1">
                <a:solidFill>
                  <a:srgbClr val="FAFBF7"/>
                </a:solidFill>
                <a:latin typeface="Arial"/>
                <a:ea typeface="Arial"/>
                <a:cs typeface="Arial"/>
              </a:defRPr>
            </a:lvl3pPr>
            <a:lvl4pPr>
              <a:defRPr sz="4350" b="1">
                <a:solidFill>
                  <a:srgbClr val="FAFBF7"/>
                </a:solidFill>
                <a:latin typeface="Arial"/>
                <a:ea typeface="Arial"/>
                <a:cs typeface="Arial"/>
              </a:defRPr>
            </a:lvl4pPr>
            <a:lvl5pPr>
              <a:defRPr sz="4350" b="1">
                <a:solidFill>
                  <a:srgbClr val="FAFBF7"/>
                </a:solidFill>
                <a:latin typeface="Arial"/>
                <a:ea typeface="Arial"/>
                <a:cs typeface="Arial"/>
              </a:defRPr>
            </a:lvl5pPr>
            <a:lvl6pPr>
              <a:defRPr sz="4350" b="1">
                <a:solidFill>
                  <a:srgbClr val="FAFBF7"/>
                </a:solidFill>
                <a:latin typeface="Arial"/>
                <a:ea typeface="Arial"/>
                <a:cs typeface="Arial"/>
              </a:defRPr>
            </a:lvl6pPr>
            <a:lvl7pPr>
              <a:defRPr sz="4350" b="1">
                <a:solidFill>
                  <a:srgbClr val="FAFBF7"/>
                </a:solidFill>
                <a:latin typeface="Arial"/>
                <a:ea typeface="Arial"/>
                <a:cs typeface="Arial"/>
              </a:defRPr>
            </a:lvl7pPr>
            <a:lvl8pPr>
              <a:defRPr sz="4350" b="1">
                <a:solidFill>
                  <a:srgbClr val="FAFBF7"/>
                </a:solidFill>
                <a:latin typeface="Arial"/>
                <a:ea typeface="Arial"/>
                <a:cs typeface="Arial"/>
              </a:defRPr>
            </a:lvl8pPr>
            <a:lvl9pPr>
              <a:defRPr sz="4350" b="1">
                <a:solidFill>
                  <a:srgbClr val="FAFBF7"/>
                </a:solidFill>
                <a:latin typeface="Arial"/>
                <a:ea typeface="Arial"/>
                <a:cs typeface="Arial"/>
              </a:defRPr>
            </a:lvl9pPr>
          </a:lstStyle>
          <a:p xmlns:a="http://schemas.openxmlformats.org/drawingml/2006/main">
            <a:pPr>
              <a:defRPr sz="4350" b="1">
                <a:solidFill>
                  <a:srgbClr val="FAFBF7"/>
                </a:solidFill>
                <a:latin typeface="Arial"/>
                <a:ea typeface="Arial"/>
                <a:cs typeface="Arial"/>
              </a:defRPr>
            </a:pPr>
            <a:r>
              <a:rPr sz="4350" b="1">
                <a:solidFill>
                  <a:srgbClr val="FAFBF7"/>
                </a:solidFill>
                <a:latin typeface="Arial"/>
                <a:ea typeface="Arial"/>
                <a:cs typeface="Arial"/>
              </a:rPr>
              <a:t>One useful neighbourhood</a:t>
            </a:r>
          </a:p>
          <a:p xmlns:a="http://schemas.openxmlformats.org/drawingml/2006/main">
            <a:pPr>
              <a:defRPr sz="4350" b="1">
                <a:solidFill>
                  <a:srgbClr val="FAFBF7"/>
                </a:solidFill>
                <a:latin typeface="Arial"/>
                <a:ea typeface="Arial"/>
                <a:cs typeface="Arial"/>
              </a:defRPr>
            </a:pPr>
            <a:r>
              <a:rPr sz="4350" b="1">
                <a:solidFill>
                  <a:srgbClr val="FAFBF7"/>
                </a:solidFill>
                <a:latin typeface="Arial"/>
                <a:ea typeface="Arial"/>
                <a:cs typeface="Arial"/>
              </a:rPr>
              <a:t>before wider coverage</a:t>
            </a:r>
          </a:p>
        </p:txBody>
      </p:sp>
      <p:sp>
        <p:nvSpPr>
          <p:cNvPr id="5" name="">
            <a:extLst xmlns:a="http://schemas.openxmlformats.org/drawingml/2006/main">
              <a:ext uri="{FF2B5EF4-FFF2-40B4-BE49-F238E27FC236}">
                <a16:creationId xmlns:a16="http://schemas.microsoft.com/office/drawing/2014/main" id="{59DBD693-FA50-4E33-8ADE-867F779D615F}"/>
              </a:ext>
            </a:extLst>
          </p:cNvPr>
          <p:cNvSpPr>
            <a:spLocks xmlns:a="http://schemas.openxmlformats.org/drawingml/2006/main" noGrp="1"/>
          </p:cNvSpPr>
          <p:nvPr/>
        </p:nvSpPr>
        <p:spPr>
          <a:xfrm xmlns:a="http://schemas.openxmlformats.org/drawingml/2006/main">
            <a:off x="685800" y="363855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AFBF7"/>
                </a:solidFill>
                <a:latin typeface="Arial"/>
                <a:ea typeface="Arial"/>
                <a:cs typeface="Arial"/>
              </a:defRPr>
            </a:defPPr>
            <a:lvl1pPr>
              <a:defRPr sz="2325" b="0">
                <a:solidFill>
                  <a:srgbClr val="FAFBF7"/>
                </a:solidFill>
                <a:latin typeface="Arial"/>
                <a:ea typeface="Arial"/>
                <a:cs typeface="Arial"/>
              </a:defRPr>
            </a:lvl1pPr>
            <a:lvl2pPr>
              <a:defRPr sz="2325" b="0">
                <a:solidFill>
                  <a:srgbClr val="FAFBF7"/>
                </a:solidFill>
                <a:latin typeface="Arial"/>
                <a:ea typeface="Arial"/>
                <a:cs typeface="Arial"/>
              </a:defRPr>
            </a:lvl2pPr>
            <a:lvl3pPr>
              <a:defRPr sz="2325" b="0">
                <a:solidFill>
                  <a:srgbClr val="FAFBF7"/>
                </a:solidFill>
                <a:latin typeface="Arial"/>
                <a:ea typeface="Arial"/>
                <a:cs typeface="Arial"/>
              </a:defRPr>
            </a:lvl3pPr>
            <a:lvl4pPr>
              <a:defRPr sz="2325" b="0">
                <a:solidFill>
                  <a:srgbClr val="FAFBF7"/>
                </a:solidFill>
                <a:latin typeface="Arial"/>
                <a:ea typeface="Arial"/>
                <a:cs typeface="Arial"/>
              </a:defRPr>
            </a:lvl4pPr>
            <a:lvl5pPr>
              <a:defRPr sz="2325" b="0">
                <a:solidFill>
                  <a:srgbClr val="FAFBF7"/>
                </a:solidFill>
                <a:latin typeface="Arial"/>
                <a:ea typeface="Arial"/>
                <a:cs typeface="Arial"/>
              </a:defRPr>
            </a:lvl5pPr>
            <a:lvl6pPr>
              <a:defRPr sz="2325" b="0">
                <a:solidFill>
                  <a:srgbClr val="FAFBF7"/>
                </a:solidFill>
                <a:latin typeface="Arial"/>
                <a:ea typeface="Arial"/>
                <a:cs typeface="Arial"/>
              </a:defRPr>
            </a:lvl6pPr>
            <a:lvl7pPr>
              <a:defRPr sz="2325" b="0">
                <a:solidFill>
                  <a:srgbClr val="FAFBF7"/>
                </a:solidFill>
                <a:latin typeface="Arial"/>
                <a:ea typeface="Arial"/>
                <a:cs typeface="Arial"/>
              </a:defRPr>
            </a:lvl7pPr>
            <a:lvl8pPr>
              <a:defRPr sz="2325" b="0">
                <a:solidFill>
                  <a:srgbClr val="FAFBF7"/>
                </a:solidFill>
                <a:latin typeface="Arial"/>
                <a:ea typeface="Arial"/>
                <a:cs typeface="Arial"/>
              </a:defRPr>
            </a:lvl8pPr>
            <a:lvl9pPr>
              <a:defRPr sz="2325" b="0">
                <a:solidFill>
                  <a:srgbClr val="FAFBF7"/>
                </a:solidFill>
                <a:latin typeface="Arial"/>
                <a:ea typeface="Arial"/>
                <a:cs typeface="Arial"/>
              </a:defRPr>
            </a:lvl9pPr>
          </a:lstStyle>
          <a:p xmlns:a="http://schemas.openxmlformats.org/drawingml/2006/main">
            <a:pPr>
              <a:defRPr sz="2325" b="0">
                <a:solidFill>
                  <a:srgbClr val="FAFBF7"/>
                </a:solidFill>
                <a:latin typeface="Arial"/>
                <a:ea typeface="Arial"/>
                <a:cs typeface="Arial"/>
              </a:defRPr>
            </a:pPr>
            <a:r>
              <a:rPr sz="2325" b="0">
                <a:solidFill>
                  <a:srgbClr val="FAFBF7"/>
                </a:solidFill>
                <a:latin typeface="Arial"/>
                <a:ea typeface="Arial"/>
                <a:cs typeface="Arial"/>
              </a:rPr>
              <a:t>Applications can come from across India.</a:t>
            </a:r>
          </a:p>
          <a:p xmlns:a="http://schemas.openxmlformats.org/drawingml/2006/main">
            <a:pPr>
              <a:defRPr sz="2325" b="0">
                <a:solidFill>
                  <a:srgbClr val="FAFBF7"/>
                </a:solidFill>
                <a:latin typeface="Arial"/>
                <a:ea typeface="Arial"/>
                <a:cs typeface="Arial"/>
              </a:defRPr>
            </a:pPr>
            <a:r>
              <a:rPr sz="2325" b="0">
                <a:solidFill>
                  <a:srgbClr val="FAFBF7"/>
                </a:solidFill>
                <a:latin typeface="Arial"/>
                <a:ea typeface="Arial"/>
                <a:cs typeface="Arial"/>
              </a:rPr>
              <a:t>The first operating area follows verified supply and local driver demand.</a:t>
            </a:r>
          </a:p>
        </p:txBody>
      </p:sp>
      <p:sp>
        <p:nvSpPr>
          <p:cNvPr id="6" name="">
            <a:extLst xmlns:a="http://schemas.openxmlformats.org/drawingml/2006/main">
              <a:ext uri="{FF2B5EF4-FFF2-40B4-BE49-F238E27FC236}">
                <a16:creationId xmlns:a16="http://schemas.microsoft.com/office/drawing/2014/main" id="{A1BE775A-E28F-4DF2-8AB0-F323BB443DB9}"/>
              </a:ext>
            </a:extLst>
          </p:cNvPr>
          <p:cNvSpPr>
            <a:spLocks xmlns:a="http://schemas.openxmlformats.org/drawingml/2006/main" noGrp="1"/>
          </p:cNvSpPr>
          <p:nvPr/>
        </p:nvSpPr>
        <p:spPr>
          <a:xfrm xmlns:a="http://schemas.openxmlformats.org/drawingml/2006/main">
            <a:off x="685800" y="51911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5EE81"/>
                </a:solidFill>
                <a:latin typeface="Arial"/>
                <a:ea typeface="Arial"/>
                <a:cs typeface="Arial"/>
              </a:defRPr>
            </a:defPPr>
            <a:lvl1pPr>
              <a:defRPr sz="2325" b="1">
                <a:solidFill>
                  <a:srgbClr val="D5EE81"/>
                </a:solidFill>
                <a:latin typeface="Arial"/>
                <a:ea typeface="Arial"/>
                <a:cs typeface="Arial"/>
              </a:defRPr>
            </a:lvl1pPr>
            <a:lvl2pPr>
              <a:defRPr sz="2325" b="1">
                <a:solidFill>
                  <a:srgbClr val="D5EE81"/>
                </a:solidFill>
                <a:latin typeface="Arial"/>
                <a:ea typeface="Arial"/>
                <a:cs typeface="Arial"/>
              </a:defRPr>
            </a:lvl2pPr>
            <a:lvl3pPr>
              <a:defRPr sz="2325" b="1">
                <a:solidFill>
                  <a:srgbClr val="D5EE81"/>
                </a:solidFill>
                <a:latin typeface="Arial"/>
                <a:ea typeface="Arial"/>
                <a:cs typeface="Arial"/>
              </a:defRPr>
            </a:lvl3pPr>
            <a:lvl4pPr>
              <a:defRPr sz="2325" b="1">
                <a:solidFill>
                  <a:srgbClr val="D5EE81"/>
                </a:solidFill>
                <a:latin typeface="Arial"/>
                <a:ea typeface="Arial"/>
                <a:cs typeface="Arial"/>
              </a:defRPr>
            </a:lvl4pPr>
            <a:lvl5pPr>
              <a:defRPr sz="2325" b="1">
                <a:solidFill>
                  <a:srgbClr val="D5EE81"/>
                </a:solidFill>
                <a:latin typeface="Arial"/>
                <a:ea typeface="Arial"/>
                <a:cs typeface="Arial"/>
              </a:defRPr>
            </a:lvl5pPr>
            <a:lvl6pPr>
              <a:defRPr sz="2325" b="1">
                <a:solidFill>
                  <a:srgbClr val="D5EE81"/>
                </a:solidFill>
                <a:latin typeface="Arial"/>
                <a:ea typeface="Arial"/>
                <a:cs typeface="Arial"/>
              </a:defRPr>
            </a:lvl6pPr>
            <a:lvl7pPr>
              <a:defRPr sz="2325" b="1">
                <a:solidFill>
                  <a:srgbClr val="D5EE81"/>
                </a:solidFill>
                <a:latin typeface="Arial"/>
                <a:ea typeface="Arial"/>
                <a:cs typeface="Arial"/>
              </a:defRPr>
            </a:lvl7pPr>
            <a:lvl8pPr>
              <a:defRPr sz="2325" b="1">
                <a:solidFill>
                  <a:srgbClr val="D5EE81"/>
                </a:solidFill>
                <a:latin typeface="Arial"/>
                <a:ea typeface="Arial"/>
                <a:cs typeface="Arial"/>
              </a:defRPr>
            </a:lvl8pPr>
            <a:lvl9pPr>
              <a:defRPr sz="2325" b="1">
                <a:solidFill>
                  <a:srgbClr val="D5EE81"/>
                </a:solidFill>
                <a:latin typeface="Arial"/>
                <a:ea typeface="Arial"/>
                <a:cs typeface="Arial"/>
              </a:defRPr>
            </a:lvl9pPr>
          </a:lstStyle>
          <a:p xmlns:a="http://schemas.openxmlformats.org/drawingml/2006/main">
            <a:pPr>
              <a:defRPr sz="2325" b="1">
                <a:solidFill>
                  <a:srgbClr val="D5EE81"/>
                </a:solidFill>
                <a:latin typeface="Arial"/>
                <a:ea typeface="Arial"/>
                <a:cs typeface="Arial"/>
              </a:defRPr>
            </a:pPr>
            <a:r>
              <a:rPr sz="2325" b="1">
                <a:solidFill>
                  <a:srgbClr val="D5EE81"/>
                </a:solidFill>
                <a:latin typeface="Arial"/>
                <a:ea typeface="Arial"/>
                <a:cs typeface="Arial"/>
              </a:rPr>
              <a:t>Bottom-up market sizing</a:t>
            </a:r>
          </a:p>
        </p:txBody>
      </p:sp>
      <p:sp>
        <p:nvSpPr>
          <p:cNvPr id="7" name="">
            <a:extLst xmlns:a="http://schemas.openxmlformats.org/drawingml/2006/main">
              <a:ext uri="{FF2B5EF4-FFF2-40B4-BE49-F238E27FC236}">
                <a16:creationId xmlns:a16="http://schemas.microsoft.com/office/drawing/2014/main" id="{444E5EDC-57A7-49DA-B385-5B4B033A75C7}"/>
              </a:ext>
            </a:extLst>
          </p:cNvPr>
          <p:cNvSpPr>
            <a:spLocks xmlns:a="http://schemas.openxmlformats.org/drawingml/2006/main" noGrp="1"/>
          </p:cNvSpPr>
          <p:nvPr/>
        </p:nvSpPr>
        <p:spPr>
          <a:xfrm xmlns:a="http://schemas.openxmlformats.org/drawingml/2006/main">
            <a:off x="685800" y="5695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AFBF7"/>
                </a:solidFill>
                <a:latin typeface="Arial"/>
                <a:ea typeface="Arial"/>
                <a:cs typeface="Arial"/>
              </a:defRPr>
            </a:defPPr>
            <a:lvl1pPr>
              <a:defRPr sz="2025" b="0">
                <a:solidFill>
                  <a:srgbClr val="FAFBF7"/>
                </a:solidFill>
                <a:latin typeface="Arial"/>
                <a:ea typeface="Arial"/>
                <a:cs typeface="Arial"/>
              </a:defRPr>
            </a:lvl1pPr>
            <a:lvl2pPr>
              <a:defRPr sz="2025" b="0">
                <a:solidFill>
                  <a:srgbClr val="FAFBF7"/>
                </a:solidFill>
                <a:latin typeface="Arial"/>
                <a:ea typeface="Arial"/>
                <a:cs typeface="Arial"/>
              </a:defRPr>
            </a:lvl2pPr>
            <a:lvl3pPr>
              <a:defRPr sz="2025" b="0">
                <a:solidFill>
                  <a:srgbClr val="FAFBF7"/>
                </a:solidFill>
                <a:latin typeface="Arial"/>
                <a:ea typeface="Arial"/>
                <a:cs typeface="Arial"/>
              </a:defRPr>
            </a:lvl3pPr>
            <a:lvl4pPr>
              <a:defRPr sz="2025" b="0">
                <a:solidFill>
                  <a:srgbClr val="FAFBF7"/>
                </a:solidFill>
                <a:latin typeface="Arial"/>
                <a:ea typeface="Arial"/>
                <a:cs typeface="Arial"/>
              </a:defRPr>
            </a:lvl4pPr>
            <a:lvl5pPr>
              <a:defRPr sz="2025" b="0">
                <a:solidFill>
                  <a:srgbClr val="FAFBF7"/>
                </a:solidFill>
                <a:latin typeface="Arial"/>
                <a:ea typeface="Arial"/>
                <a:cs typeface="Arial"/>
              </a:defRPr>
            </a:lvl5pPr>
            <a:lvl6pPr>
              <a:defRPr sz="2025" b="0">
                <a:solidFill>
                  <a:srgbClr val="FAFBF7"/>
                </a:solidFill>
                <a:latin typeface="Arial"/>
                <a:ea typeface="Arial"/>
                <a:cs typeface="Arial"/>
              </a:defRPr>
            </a:lvl6pPr>
            <a:lvl7pPr>
              <a:defRPr sz="2025" b="0">
                <a:solidFill>
                  <a:srgbClr val="FAFBF7"/>
                </a:solidFill>
                <a:latin typeface="Arial"/>
                <a:ea typeface="Arial"/>
                <a:cs typeface="Arial"/>
              </a:defRPr>
            </a:lvl7pPr>
            <a:lvl8pPr>
              <a:defRPr sz="2025" b="0">
                <a:solidFill>
                  <a:srgbClr val="FAFBF7"/>
                </a:solidFill>
                <a:latin typeface="Arial"/>
                <a:ea typeface="Arial"/>
                <a:cs typeface="Arial"/>
              </a:defRPr>
            </a:lvl8pPr>
            <a:lvl9pPr>
              <a:defRPr sz="2025" b="0">
                <a:solidFill>
                  <a:srgbClr val="FAFBF7"/>
                </a:solidFill>
                <a:latin typeface="Arial"/>
                <a:ea typeface="Arial"/>
                <a:cs typeface="Arial"/>
              </a:defRPr>
            </a:lvl9pPr>
          </a:lstStyle>
          <a:p xmlns:a="http://schemas.openxmlformats.org/drawingml/2006/main">
            <a:pPr>
              <a:defRPr sz="2025" b="0">
                <a:solidFill>
                  <a:srgbClr val="FAFBF7"/>
                </a:solidFill>
                <a:latin typeface="Arial"/>
                <a:ea typeface="Arial"/>
                <a:cs typeface="Arial"/>
              </a:defRPr>
            </a:pPr>
            <a:r>
              <a:rPr sz="2025" b="0">
                <a:solidFill>
                  <a:srgbClr val="FAFBF7"/>
                </a:solidFill>
                <a:latin typeface="Arial"/>
                <a:ea typeface="Arial"/>
                <a:cs typeface="Arial"/>
              </a:rPr>
              <a:t>Compatible drivers × repeat charging need × usable host hours</a:t>
            </a:r>
          </a:p>
        </p:txBody>
      </p:sp>
    </p:spTree>
    <p:extLst>
      <p:ext uri="{BB962C8B-B14F-4D97-AF65-F5344CB8AC3E}">
        <p14:creationId xmlns:p14="http://schemas.microsoft.com/office/powerpoint/2010/main" val="1648192064"/>
      </p:ext>
    </p:extLst>
  </p:cSld>
</p:sld>
</file>

<file path=ppt/slides/slide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508A50-326B-4641-BCEF-FC688BE10A03}"/>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Existing options and the pilot hypothesis</a:t>
            </a:r>
          </a:p>
        </p:txBody>
      </p:sp>
      <p:sp>
        <p:nvSpPr>
          <p:cNvPr id="2" name="">
            <a:extLst xmlns:a="http://schemas.openxmlformats.org/drawingml/2006/main">
              <a:ext uri="{FF2B5EF4-FFF2-40B4-BE49-F238E27FC236}">
                <a16:creationId xmlns:a16="http://schemas.microsoft.com/office/drawing/2014/main" id="{FCF8B64B-0E5F-477E-A8CF-92EA631F512D}"/>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72135C44-662B-4340-A9A2-D9201DC28EC8}"/>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09560334-602E-4A62-8D5F-041B105220CF}"/>
              </a:ext>
            </a:extLst>
          </p:cNvPr>
          <p:cNvGraphicFramePr/>
          <p:nvPr/>
        </p:nvGraphicFramePr>
        <p:xfrm>
          <a:off xmlns:a="http://schemas.openxmlformats.org/drawingml/2006/main" x="685800" y="1857375"/>
          <a:ext xmlns:a="http://schemas.openxmlformats.org/drawingml/2006/main" cx="10820400" cy="3257550"/>
        </p:xfrm>
        <a:graphic xmlns:a="http://schemas.openxmlformats.org/drawingml/2006/main">
          <a:graphicData uri="http://schemas.openxmlformats.org/drawingml/2006/table">
            <a:tbl>
              <a:tblPr/>
              <a:tblGrid>
                <a:gridCol w="2857500"/>
                <a:gridCol w="3905250"/>
                <a:gridCol w="4057650"/>
              </a:tblGrid>
              <a:tr h="814388">
                <a:tc>
                  <a:txBody>
                    <a:bodyPr/>
                    <a:lstStyle/>
                    <a:p>
                      <a:r>
                        <a:rPr sz="1800" b="1">
                          <a:solidFill>
                            <a:srgbClr val="FAFBF7"/>
                          </a:solidFill>
                          <a:latin typeface="Arial"/>
                          <a:ea typeface="Arial"/>
                          <a:cs typeface="Arial"/>
                        </a:rPr>
                        <a:t>Approach</a:t>
                      </a:r>
                    </a:p>
                  </a:txBody>
                  <a:tcPr marL="91440" marR="91440" marT="45720" marB="45720">
                    <a:lnL w="9525">
                      <a:solidFill>
                        <a:srgbClr val="D5DDCD"/>
                      </a:solidFill>
                      <a:prstDash val="solid"/>
                    </a:lnL>
                    <a:lnR w="9525">
                      <a:solidFill>
                        <a:srgbClr val="D5DDCD"/>
                      </a:solidFill>
                      <a:prstDash val="solid"/>
                    </a:lnR>
                    <a:lnT w="9525">
                      <a:solidFill>
                        <a:srgbClr val="D5DDCD"/>
                      </a:solidFill>
                      <a:prstDash val="solid"/>
                    </a:lnT>
                    <a:lnB w="9525">
                      <a:solidFill>
                        <a:srgbClr val="D5DDCD"/>
                      </a:solidFill>
                      <a:prstDash val="solid"/>
                    </a:lnB>
                    <a:solidFill>
                      <a:srgbClr val="173B2B"/>
                    </a:solidFill>
                  </a:tcPr>
                </a:tc>
                <a:tc>
                  <a:txBody>
                    <a:bodyPr/>
                    <a:lstStyle/>
                    <a:p>
                      <a:r>
                        <a:rPr sz="1800" b="1">
                          <a:solidFill>
                            <a:srgbClr val="FAFBF7"/>
                          </a:solidFill>
                          <a:latin typeface="Arial"/>
                          <a:ea typeface="Arial"/>
                          <a:cs typeface="Arial"/>
                        </a:rPr>
                        <a:t>Customer starting point</a:t>
                      </a:r>
                    </a:p>
                  </a:txBody>
                  <a:tcPr marL="91440" marR="91440" marT="45720" marB="45720">
                    <a:lnR w="9525">
                      <a:solidFill>
                        <a:srgbClr val="D5DDCD"/>
                      </a:solidFill>
                      <a:prstDash val="solid"/>
                    </a:lnR>
                    <a:lnT w="9525">
                      <a:solidFill>
                        <a:srgbClr val="D5DDCD"/>
                      </a:solidFill>
                      <a:prstDash val="solid"/>
                    </a:lnT>
                    <a:lnB w="9525">
                      <a:solidFill>
                        <a:srgbClr val="D5DDCD"/>
                      </a:solidFill>
                      <a:prstDash val="solid"/>
                    </a:lnB>
                    <a:solidFill>
                      <a:srgbClr val="173B2B"/>
                    </a:solidFill>
                  </a:tcPr>
                </a:tc>
                <a:tc>
                  <a:txBody>
                    <a:bodyPr/>
                    <a:lstStyle/>
                    <a:p>
                      <a:r>
                        <a:rPr sz="1800" b="1">
                          <a:solidFill>
                            <a:srgbClr val="FAFBF7"/>
                          </a:solidFill>
                          <a:latin typeface="Arial"/>
                          <a:ea typeface="Arial"/>
                          <a:cs typeface="Arial"/>
                        </a:rPr>
                        <a:t>Question for this pilot</a:t>
                      </a:r>
                    </a:p>
                  </a:txBody>
                  <a:tcPr marL="91440" marR="91440" marT="45720" marB="45720">
                    <a:lnR w="9525">
                      <a:solidFill>
                        <a:srgbClr val="D5DDCD"/>
                      </a:solidFill>
                      <a:prstDash val="solid"/>
                    </a:lnR>
                    <a:lnT w="9525">
                      <a:solidFill>
                        <a:srgbClr val="D5DDCD"/>
                      </a:solidFill>
                      <a:prstDash val="solid"/>
                    </a:lnT>
                    <a:lnB w="9525">
                      <a:solidFill>
                        <a:srgbClr val="D5DDCD"/>
                      </a:solidFill>
                      <a:prstDash val="solid"/>
                    </a:lnB>
                    <a:solidFill>
                      <a:srgbClr val="173B2B"/>
                    </a:solidFill>
                  </a:tcPr>
                </a:tc>
              </a:tr>
              <a:tr h="814388">
                <a:tc>
                  <a:txBody>
                    <a:bodyPr/>
                    <a:lstStyle/>
                    <a:p>
                      <a:r>
                        <a:rPr sz="1800" b="0">
                          <a:solidFill>
                            <a:srgbClr val="173B2B"/>
                          </a:solidFill>
                          <a:latin typeface="Arial"/>
                          <a:ea typeface="Arial"/>
                          <a:cs typeface="Arial"/>
                        </a:rPr>
                        <a:t>Public discovery maps</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Find a public charging location</a:t>
                      </a:r>
                    </a:p>
                  </a:txBody>
                  <a:tcPr marL="91440" marR="91440" marT="45720" marB="45720">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Which visits still fail on access?</a:t>
                      </a:r>
                    </a:p>
                  </a:txBody>
                  <a:tcPr marL="91440" marR="91440" marT="45720" marB="45720">
                    <a:lnR w="9525">
                      <a:solidFill>
                        <a:srgbClr val="D5DDCD"/>
                      </a:solidFill>
                      <a:prstDash val="solid"/>
                    </a:lnR>
                    <a:lnB w="9525">
                      <a:solidFill>
                        <a:srgbClr val="D5DDCD"/>
                      </a:solidFill>
                      <a:prstDash val="solid"/>
                    </a:lnB>
                    <a:solidFill>
                      <a:srgbClr val="FAFBF7"/>
                    </a:solidFill>
                  </a:tcPr>
                </a:tc>
              </a:tr>
              <a:tr h="814388">
                <a:tc>
                  <a:txBody>
                    <a:bodyPr/>
                    <a:lstStyle/>
                    <a:p>
                      <a:r>
                        <a:rPr sz="1800" b="0">
                          <a:solidFill>
                            <a:srgbClr val="173B2B"/>
                          </a:solidFill>
                          <a:latin typeface="Arial"/>
                          <a:ea typeface="Arial"/>
                          <a:cs typeface="Arial"/>
                        </a:rPr>
                        <a:t>Operator networks</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Use a participating network</a:t>
                      </a:r>
                    </a:p>
                  </a:txBody>
                  <a:tcPr marL="91440" marR="91440" marT="45720" marB="45720">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Where is a local AC option useful?</a:t>
                      </a:r>
                    </a:p>
                  </a:txBody>
                  <a:tcPr marL="91440" marR="91440" marT="45720" marB="45720">
                    <a:lnR w="9525">
                      <a:solidFill>
                        <a:srgbClr val="D5DDCD"/>
                      </a:solidFill>
                      <a:prstDash val="solid"/>
                    </a:lnR>
                    <a:lnB w="9525">
                      <a:solidFill>
                        <a:srgbClr val="D5DDCD"/>
                      </a:solidFill>
                      <a:prstDash val="solid"/>
                    </a:lnB>
                    <a:solidFill>
                      <a:srgbClr val="FAFBF7"/>
                    </a:solidFill>
                  </a:tcPr>
                </a:tc>
              </a:tr>
              <a:tr h="814388">
                <a:tc>
                  <a:txBody>
                    <a:bodyPr/>
                    <a:lstStyle/>
                    <a:p>
                      <a:r>
                        <a:rPr sz="1800" b="0">
                          <a:solidFill>
                            <a:srgbClr val="173B2B"/>
                          </a:solidFill>
                          <a:latin typeface="Arial"/>
                          <a:ea typeface="Arial"/>
                          <a:cs typeface="Arial"/>
                        </a:rPr>
                        <a:t>ChargeNeighbour proposal</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Request reviewed home AC access</a:t>
                      </a:r>
                    </a:p>
                  </a:txBody>
                  <a:tcPr marL="91440" marR="91440" marT="45720" marB="45720">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Will hosts admit repeat drivers reliably?</a:t>
                      </a:r>
                    </a:p>
                  </a:txBody>
                  <a:tcPr marL="91440" marR="91440" marT="45720" marB="45720">
                    <a:lnR w="9525">
                      <a:solidFill>
                        <a:srgbClr val="D5DDCD"/>
                      </a:solidFill>
                      <a:prstDash val="solid"/>
                    </a:lnR>
                    <a:lnB w="9525">
                      <a:solidFill>
                        <a:srgbClr val="D5DDCD"/>
                      </a:solidFill>
                      <a:prstDash val="solid"/>
                    </a:lnB>
                    <a:solidFill>
                      <a:srgbClr val="FAFBF7"/>
                    </a:solidFill>
                  </a:tcPr>
                </a:tc>
              </a:tr>
            </a:tbl>
          </a:graphicData>
        </a:graphic>
      </p:graphicFrame>
      <p:sp>
        <p:nvSpPr>
          <p:cNvPr id="5" name="">
            <a:extLst xmlns:a="http://schemas.openxmlformats.org/drawingml/2006/main">
              <a:ext uri="{FF2B5EF4-FFF2-40B4-BE49-F238E27FC236}">
                <a16:creationId xmlns:a16="http://schemas.microsoft.com/office/drawing/2014/main" id="{35A480BE-8072-4A6E-8A7E-57B6A7E505BC}"/>
              </a:ext>
            </a:extLst>
          </p:cNvPr>
          <p:cNvSpPr>
            <a:spLocks xmlns:a="http://schemas.openxmlformats.org/drawingml/2006/main" noGrp="1"/>
          </p:cNvSpPr>
          <p:nvPr/>
        </p:nvSpPr>
        <p:spPr>
          <a:xfrm xmlns:a="http://schemas.openxmlformats.org/drawingml/2006/main">
            <a:off x="68580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34F"/>
                </a:solidFill>
                <a:latin typeface="Arial"/>
                <a:ea typeface="Arial"/>
                <a:cs typeface="Arial"/>
              </a:defRPr>
            </a:defPPr>
            <a:lvl1pPr>
              <a:defRPr sz="2100" b="0">
                <a:solidFill>
                  <a:srgbClr val="53634F"/>
                </a:solidFill>
                <a:latin typeface="Arial"/>
                <a:ea typeface="Arial"/>
                <a:cs typeface="Arial"/>
              </a:defRPr>
            </a:lvl1pPr>
            <a:lvl2pPr>
              <a:defRPr sz="2100" b="0">
                <a:solidFill>
                  <a:srgbClr val="53634F"/>
                </a:solidFill>
                <a:latin typeface="Arial"/>
                <a:ea typeface="Arial"/>
                <a:cs typeface="Arial"/>
              </a:defRPr>
            </a:lvl2pPr>
            <a:lvl3pPr>
              <a:defRPr sz="2100" b="0">
                <a:solidFill>
                  <a:srgbClr val="53634F"/>
                </a:solidFill>
                <a:latin typeface="Arial"/>
                <a:ea typeface="Arial"/>
                <a:cs typeface="Arial"/>
              </a:defRPr>
            </a:lvl3pPr>
            <a:lvl4pPr>
              <a:defRPr sz="2100" b="0">
                <a:solidFill>
                  <a:srgbClr val="53634F"/>
                </a:solidFill>
                <a:latin typeface="Arial"/>
                <a:ea typeface="Arial"/>
                <a:cs typeface="Arial"/>
              </a:defRPr>
            </a:lvl4pPr>
            <a:lvl5pPr>
              <a:defRPr sz="2100" b="0">
                <a:solidFill>
                  <a:srgbClr val="53634F"/>
                </a:solidFill>
                <a:latin typeface="Arial"/>
                <a:ea typeface="Arial"/>
                <a:cs typeface="Arial"/>
              </a:defRPr>
            </a:lvl5pPr>
            <a:lvl6pPr>
              <a:defRPr sz="2100" b="0">
                <a:solidFill>
                  <a:srgbClr val="53634F"/>
                </a:solidFill>
                <a:latin typeface="Arial"/>
                <a:ea typeface="Arial"/>
                <a:cs typeface="Arial"/>
              </a:defRPr>
            </a:lvl6pPr>
            <a:lvl7pPr>
              <a:defRPr sz="2100" b="0">
                <a:solidFill>
                  <a:srgbClr val="53634F"/>
                </a:solidFill>
                <a:latin typeface="Arial"/>
                <a:ea typeface="Arial"/>
                <a:cs typeface="Arial"/>
              </a:defRPr>
            </a:lvl7pPr>
            <a:lvl8pPr>
              <a:defRPr sz="2100" b="0">
                <a:solidFill>
                  <a:srgbClr val="53634F"/>
                </a:solidFill>
                <a:latin typeface="Arial"/>
                <a:ea typeface="Arial"/>
                <a:cs typeface="Arial"/>
              </a:defRPr>
            </a:lvl8pPr>
            <a:lvl9pPr>
              <a:defRPr sz="2100" b="0">
                <a:solidFill>
                  <a:srgbClr val="53634F"/>
                </a:solidFill>
                <a:latin typeface="Arial"/>
                <a:ea typeface="Arial"/>
                <a:cs typeface="Arial"/>
              </a:defRPr>
            </a:lvl9pPr>
          </a:lstStyle>
          <a:p xmlns:a="http://schemas.openxmlformats.org/drawingml/2006/main">
            <a:pPr>
              <a:defRPr sz="2100" b="0">
                <a:solidFill>
                  <a:srgbClr val="53634F"/>
                </a:solidFill>
                <a:latin typeface="Arial"/>
                <a:ea typeface="Arial"/>
                <a:cs typeface="Arial"/>
              </a:defRPr>
            </a:pPr>
            <a:r>
              <a:rPr sz="2100" b="0">
                <a:solidFill>
                  <a:srgbClr val="53634F"/>
                </a:solidFill>
                <a:latin typeface="Arial"/>
                <a:ea typeface="Arial"/>
                <a:cs typeface="Arial"/>
              </a:rPr>
              <a:t>The intended advantage depends on dependable local supply and successful repeat sessions.</a:t>
            </a:r>
          </a:p>
        </p:txBody>
      </p:sp>
    </p:spTree>
    <p:extLst>
      <p:ext uri="{BB962C8B-B14F-4D97-AF65-F5344CB8AC3E}">
        <p14:creationId xmlns:p14="http://schemas.microsoft.com/office/powerpoint/2010/main" val="1550385993"/>
      </p:ext>
    </p:extLst>
  </p:cSld>
</p:sld>
</file>

<file path=ppt/slides/slide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67D4C4-2086-4A3C-9F24-80CA7575FADE}"/>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One illustrative session</a:t>
            </a:r>
          </a:p>
        </p:txBody>
      </p:sp>
      <p:sp>
        <p:nvSpPr>
          <p:cNvPr id="2" name="">
            <a:extLst xmlns:a="http://schemas.openxmlformats.org/drawingml/2006/main">
              <a:ext uri="{FF2B5EF4-FFF2-40B4-BE49-F238E27FC236}">
                <a16:creationId xmlns:a16="http://schemas.microsoft.com/office/drawing/2014/main" id="{C78C6E64-3139-4356-9FD4-F54963C2E6FF}"/>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F220334C-0D04-44E3-86A6-BEC1A44B4EE0}"/>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5CE52BEF-1369-4D33-9318-E0395700EFB9}"/>
              </a:ext>
            </a:extLst>
          </p:cNvPr>
          <p:cNvGraphicFramePr/>
          <p:nvPr/>
        </p:nvGraphicFramePr>
        <p:xfrm>
          <a:off xmlns:a="http://schemas.openxmlformats.org/drawingml/2006/main" x="685800" y="1600200"/>
          <a:ext xmlns:a="http://schemas.openxmlformats.org/drawingml/2006/main" cx="10820400" cy="3857625"/>
        </p:xfrm>
        <a:graphic xmlns:a="http://schemas.openxmlformats.org/drawingml/2006/main">
          <a:graphicData uri="http://schemas.openxmlformats.org/drawingml/2006/table">
            <a:tbl>
              <a:tblPr/>
              <a:tblGrid>
                <a:gridCol w="7810500"/>
                <a:gridCol w="3009900"/>
              </a:tblGrid>
              <a:tr h="482203">
                <a:tc>
                  <a:txBody>
                    <a:bodyPr/>
                    <a:lstStyle/>
                    <a:p>
                      <a:r>
                        <a:rPr sz="1800" b="1">
                          <a:solidFill>
                            <a:srgbClr val="FAFBF7"/>
                          </a:solidFill>
                          <a:latin typeface="Arial"/>
                          <a:ea typeface="Arial"/>
                          <a:cs typeface="Arial"/>
                        </a:rPr>
                        <a:t>Assumption or result</a:t>
                      </a:r>
                    </a:p>
                  </a:txBody>
                  <a:tcPr marL="91440" marR="91440" marT="45720" marB="45720">
                    <a:lnL w="9525">
                      <a:solidFill>
                        <a:srgbClr val="D5DDCD"/>
                      </a:solidFill>
                      <a:prstDash val="solid"/>
                    </a:lnL>
                    <a:lnR w="9525">
                      <a:solidFill>
                        <a:srgbClr val="D5DDCD"/>
                      </a:solidFill>
                      <a:prstDash val="solid"/>
                    </a:lnR>
                    <a:lnT w="9525">
                      <a:solidFill>
                        <a:srgbClr val="D5DDCD"/>
                      </a:solidFill>
                      <a:prstDash val="solid"/>
                    </a:lnT>
                    <a:lnB w="9525">
                      <a:solidFill>
                        <a:srgbClr val="D5DDCD"/>
                      </a:solidFill>
                      <a:prstDash val="solid"/>
                    </a:lnB>
                    <a:solidFill>
                      <a:srgbClr val="173B2B"/>
                    </a:solidFill>
                  </a:tcPr>
                </a:tc>
                <a:tc>
                  <a:txBody>
                    <a:bodyPr/>
                    <a:lstStyle/>
                    <a:p>
                      <a:r>
                        <a:rPr sz="1800" b="1">
                          <a:solidFill>
                            <a:srgbClr val="FAFBF7"/>
                          </a:solidFill>
                          <a:latin typeface="Arial"/>
                          <a:ea typeface="Arial"/>
                          <a:cs typeface="Arial"/>
                        </a:rPr>
                        <a:t>Amount</a:t>
                      </a:r>
                    </a:p>
                  </a:txBody>
                  <a:tcPr marL="91440" marR="91440" marT="45720" marB="45720">
                    <a:lnR w="9525">
                      <a:solidFill>
                        <a:srgbClr val="D5DDCD"/>
                      </a:solidFill>
                      <a:prstDash val="solid"/>
                    </a:lnR>
                    <a:lnT w="9525">
                      <a:solidFill>
                        <a:srgbClr val="D5DDCD"/>
                      </a:solidFill>
                      <a:prstDash val="solid"/>
                    </a:lnT>
                    <a:lnB w="9525">
                      <a:solidFill>
                        <a:srgbClr val="D5DDCD"/>
                      </a:solidFill>
                      <a:prstDash val="solid"/>
                    </a:lnB>
                    <a:solidFill>
                      <a:srgbClr val="173B2B"/>
                    </a:solidFill>
                  </a:tcPr>
                </a:tc>
              </a:tr>
              <a:tr h="482203">
                <a:tc>
                  <a:txBody>
                    <a:bodyPr/>
                    <a:lstStyle/>
                    <a:p>
                      <a:r>
                        <a:rPr sz="1800" b="0">
                          <a:solidFill>
                            <a:srgbClr val="173B2B"/>
                          </a:solidFill>
                          <a:latin typeface="Arial"/>
                          <a:ea typeface="Arial"/>
                          <a:cs typeface="Arial"/>
                        </a:rPr>
                        <a:t>Delivered energy</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10 kWh</a:t>
                      </a:r>
                    </a:p>
                  </a:txBody>
                  <a:tcPr marL="91440" marR="91440" marT="45720" marB="45720">
                    <a:lnR w="9525">
                      <a:solidFill>
                        <a:srgbClr val="D5DDCD"/>
                      </a:solidFill>
                      <a:prstDash val="solid"/>
                    </a:lnR>
                    <a:lnB w="9525">
                      <a:solidFill>
                        <a:srgbClr val="D5DDCD"/>
                      </a:solidFill>
                      <a:prstDash val="solid"/>
                    </a:lnB>
                    <a:solidFill>
                      <a:srgbClr val="FAFBF7"/>
                    </a:solidFill>
                  </a:tcPr>
                </a:tc>
              </a:tr>
              <a:tr h="482203">
                <a:tc>
                  <a:txBody>
                    <a:bodyPr/>
                    <a:lstStyle/>
                    <a:p>
                      <a:r>
                        <a:rPr sz="1800" b="0">
                          <a:solidFill>
                            <a:srgbClr val="173B2B"/>
                          </a:solidFill>
                          <a:latin typeface="Arial"/>
                          <a:ea typeface="Arial"/>
                          <a:cs typeface="Arial"/>
                        </a:rPr>
                        <a:t>Assumed customer rate</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₹16 per kWh</a:t>
                      </a:r>
                    </a:p>
                  </a:txBody>
                  <a:tcPr marL="91440" marR="91440" marT="45720" marB="45720">
                    <a:lnR w="9525">
                      <a:solidFill>
                        <a:srgbClr val="D5DDCD"/>
                      </a:solidFill>
                      <a:prstDash val="solid"/>
                    </a:lnR>
                    <a:lnB w="9525">
                      <a:solidFill>
                        <a:srgbClr val="D5DDCD"/>
                      </a:solidFill>
                      <a:prstDash val="solid"/>
                    </a:lnB>
                    <a:solidFill>
                      <a:srgbClr val="FAFBF7"/>
                    </a:solidFill>
                  </a:tcPr>
                </a:tc>
              </a:tr>
              <a:tr h="482203">
                <a:tc>
                  <a:txBody>
                    <a:bodyPr/>
                    <a:lstStyle/>
                    <a:p>
                      <a:r>
                        <a:rPr sz="1800" b="0">
                          <a:solidFill>
                            <a:srgbClr val="173B2B"/>
                          </a:solidFill>
                          <a:latin typeface="Arial"/>
                          <a:ea typeface="Arial"/>
                          <a:cs typeface="Arial"/>
                        </a:rPr>
                        <a:t>Customer charging value</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₹160</a:t>
                      </a:r>
                    </a:p>
                  </a:txBody>
                  <a:tcPr marL="91440" marR="91440" marT="45720" marB="45720">
                    <a:lnR w="9525">
                      <a:solidFill>
                        <a:srgbClr val="D5DDCD"/>
                      </a:solidFill>
                      <a:prstDash val="solid"/>
                    </a:lnR>
                    <a:lnB w="9525">
                      <a:solidFill>
                        <a:srgbClr val="D5DDCD"/>
                      </a:solidFill>
                      <a:prstDash val="solid"/>
                    </a:lnB>
                    <a:solidFill>
                      <a:srgbClr val="FAFBF7"/>
                    </a:solidFill>
                  </a:tcPr>
                </a:tc>
              </a:tr>
              <a:tr h="482203">
                <a:tc>
                  <a:txBody>
                    <a:bodyPr/>
                    <a:lstStyle/>
                    <a:p>
                      <a:r>
                        <a:rPr sz="1800" b="0">
                          <a:solidFill>
                            <a:srgbClr val="173B2B"/>
                          </a:solidFill>
                          <a:latin typeface="Arial"/>
                          <a:ea typeface="Arial"/>
                          <a:cs typeface="Arial"/>
                        </a:rPr>
                        <a:t>Proposed commission at 15%</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₹24</a:t>
                      </a:r>
                    </a:p>
                  </a:txBody>
                  <a:tcPr marL="91440" marR="91440" marT="45720" marB="45720">
                    <a:lnR w="9525">
                      <a:solidFill>
                        <a:srgbClr val="D5DDCD"/>
                      </a:solidFill>
                      <a:prstDash val="solid"/>
                    </a:lnR>
                    <a:lnB w="9525">
                      <a:solidFill>
                        <a:srgbClr val="D5DDCD"/>
                      </a:solidFill>
                      <a:prstDash val="solid"/>
                    </a:lnB>
                    <a:solidFill>
                      <a:srgbClr val="FAFBF7"/>
                    </a:solidFill>
                  </a:tcPr>
                </a:tc>
              </a:tr>
              <a:tr h="482203">
                <a:tc>
                  <a:txBody>
                    <a:bodyPr/>
                    <a:lstStyle/>
                    <a:p>
                      <a:r>
                        <a:rPr sz="1800" b="0">
                          <a:solidFill>
                            <a:srgbClr val="173B2B"/>
                          </a:solidFill>
                          <a:latin typeface="Arial"/>
                          <a:ea typeface="Arial"/>
                          <a:cs typeface="Arial"/>
                        </a:rPr>
                        <a:t>Host after commission</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₹136</a:t>
                      </a:r>
                    </a:p>
                  </a:txBody>
                  <a:tcPr marL="91440" marR="91440" marT="45720" marB="45720">
                    <a:lnR w="9525">
                      <a:solidFill>
                        <a:srgbClr val="D5DDCD"/>
                      </a:solidFill>
                      <a:prstDash val="solid"/>
                    </a:lnR>
                    <a:lnB w="9525">
                      <a:solidFill>
                        <a:srgbClr val="D5DDCD"/>
                      </a:solidFill>
                      <a:prstDash val="solid"/>
                    </a:lnB>
                    <a:solidFill>
                      <a:srgbClr val="FAFBF7"/>
                    </a:solidFill>
                  </a:tcPr>
                </a:tc>
              </a:tr>
              <a:tr h="482203">
                <a:tc>
                  <a:txBody>
                    <a:bodyPr/>
                    <a:lstStyle/>
                    <a:p>
                      <a:r>
                        <a:rPr sz="1800" b="0">
                          <a:solidFill>
                            <a:srgbClr val="173B2B"/>
                          </a:solidFill>
                          <a:latin typeface="Arial"/>
                          <a:ea typeface="Arial"/>
                          <a:cs typeface="Arial"/>
                        </a:rPr>
                        <a:t>Assumed electricity at ₹8 per kWh</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₹80</a:t>
                      </a:r>
                    </a:p>
                  </a:txBody>
                  <a:tcPr marL="91440" marR="91440" marT="45720" marB="45720">
                    <a:lnR w="9525">
                      <a:solidFill>
                        <a:srgbClr val="D5DDCD"/>
                      </a:solidFill>
                      <a:prstDash val="solid"/>
                    </a:lnR>
                    <a:lnB w="9525">
                      <a:solidFill>
                        <a:srgbClr val="D5DDCD"/>
                      </a:solidFill>
                      <a:prstDash val="solid"/>
                    </a:lnB>
                    <a:solidFill>
                      <a:srgbClr val="FAFBF7"/>
                    </a:solidFill>
                  </a:tcPr>
                </a:tc>
              </a:tr>
              <a:tr h="482203">
                <a:tc>
                  <a:txBody>
                    <a:bodyPr/>
                    <a:lstStyle/>
                    <a:p>
                      <a:r>
                        <a:rPr sz="1800" b="0">
                          <a:solidFill>
                            <a:srgbClr val="173B2B"/>
                          </a:solidFill>
                          <a:latin typeface="Arial"/>
                          <a:ea typeface="Arial"/>
                          <a:cs typeface="Arial"/>
                        </a:rPr>
                        <a:t>Host surplus before other costs and tax</a:t>
                      </a:r>
                    </a:p>
                  </a:txBody>
                  <a:tcPr marL="91440" marR="91440" marT="45720" marB="45720">
                    <a:lnL w="9525">
                      <a:solidFill>
                        <a:srgbClr val="D5DDCD"/>
                      </a:solidFill>
                      <a:prstDash val="solid"/>
                    </a:lnL>
                    <a:lnR w="9525">
                      <a:solidFill>
                        <a:srgbClr val="D5DDCD"/>
                      </a:solidFill>
                      <a:prstDash val="solid"/>
                    </a:lnR>
                    <a:lnB w="9525">
                      <a:solidFill>
                        <a:srgbClr val="D5DDCD"/>
                      </a:solidFill>
                      <a:prstDash val="solid"/>
                    </a:lnB>
                    <a:solidFill>
                      <a:srgbClr val="FAFBF7"/>
                    </a:solidFill>
                  </a:tcPr>
                </a:tc>
                <a:tc>
                  <a:txBody>
                    <a:bodyPr/>
                    <a:lstStyle/>
                    <a:p>
                      <a:r>
                        <a:rPr sz="1800" b="0">
                          <a:solidFill>
                            <a:srgbClr val="173B2B"/>
                          </a:solidFill>
                          <a:latin typeface="Arial"/>
                          <a:ea typeface="Arial"/>
                          <a:cs typeface="Arial"/>
                        </a:rPr>
                        <a:t>₹56</a:t>
                      </a:r>
                    </a:p>
                  </a:txBody>
                  <a:tcPr marL="91440" marR="91440" marT="45720" marB="45720">
                    <a:lnR w="9525">
                      <a:solidFill>
                        <a:srgbClr val="D5DDCD"/>
                      </a:solidFill>
                      <a:prstDash val="solid"/>
                    </a:lnR>
                    <a:lnB w="9525">
                      <a:solidFill>
                        <a:srgbClr val="D5DDCD"/>
                      </a:solidFill>
                      <a:prstDash val="solid"/>
                    </a:lnB>
                    <a:solidFill>
                      <a:srgbClr val="FAFBF7"/>
                    </a:solidFill>
                  </a:tcPr>
                </a:tc>
              </a:tr>
            </a:tbl>
          </a:graphicData>
        </a:graphic>
      </p:graphicFrame>
      <p:sp>
        <p:nvSpPr>
          <p:cNvPr id="5" name="">
            <a:extLst xmlns:a="http://schemas.openxmlformats.org/drawingml/2006/main">
              <a:ext uri="{FF2B5EF4-FFF2-40B4-BE49-F238E27FC236}">
                <a16:creationId xmlns:a16="http://schemas.microsoft.com/office/drawing/2014/main" id="{8451C238-811B-4EB4-BF35-450F7AF8A476}"/>
              </a:ext>
            </a:extLst>
          </p:cNvPr>
          <p:cNvSpPr>
            <a:spLocks xmlns:a="http://schemas.openxmlformats.org/drawingml/2006/main" noGrp="1"/>
          </p:cNvSpPr>
          <p:nvPr/>
        </p:nvSpPr>
        <p:spPr>
          <a:xfrm xmlns:a="http://schemas.openxmlformats.org/drawingml/2006/main">
            <a:off x="685800" y="5715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34F"/>
                </a:solidFill>
                <a:latin typeface="Arial"/>
                <a:ea typeface="Arial"/>
                <a:cs typeface="Arial"/>
              </a:defRPr>
            </a:defPPr>
            <a:lvl1pPr>
              <a:defRPr sz="1950" b="0">
                <a:solidFill>
                  <a:srgbClr val="53634F"/>
                </a:solidFill>
                <a:latin typeface="Arial"/>
                <a:ea typeface="Arial"/>
                <a:cs typeface="Arial"/>
              </a:defRPr>
            </a:lvl1pPr>
            <a:lvl2pPr>
              <a:defRPr sz="1950" b="0">
                <a:solidFill>
                  <a:srgbClr val="53634F"/>
                </a:solidFill>
                <a:latin typeface="Arial"/>
                <a:ea typeface="Arial"/>
                <a:cs typeface="Arial"/>
              </a:defRPr>
            </a:lvl2pPr>
            <a:lvl3pPr>
              <a:defRPr sz="1950" b="0">
                <a:solidFill>
                  <a:srgbClr val="53634F"/>
                </a:solidFill>
                <a:latin typeface="Arial"/>
                <a:ea typeface="Arial"/>
                <a:cs typeface="Arial"/>
              </a:defRPr>
            </a:lvl3pPr>
            <a:lvl4pPr>
              <a:defRPr sz="1950" b="0">
                <a:solidFill>
                  <a:srgbClr val="53634F"/>
                </a:solidFill>
                <a:latin typeface="Arial"/>
                <a:ea typeface="Arial"/>
                <a:cs typeface="Arial"/>
              </a:defRPr>
            </a:lvl4pPr>
            <a:lvl5pPr>
              <a:defRPr sz="1950" b="0">
                <a:solidFill>
                  <a:srgbClr val="53634F"/>
                </a:solidFill>
                <a:latin typeface="Arial"/>
                <a:ea typeface="Arial"/>
                <a:cs typeface="Arial"/>
              </a:defRPr>
            </a:lvl5pPr>
            <a:lvl6pPr>
              <a:defRPr sz="1950" b="0">
                <a:solidFill>
                  <a:srgbClr val="53634F"/>
                </a:solidFill>
                <a:latin typeface="Arial"/>
                <a:ea typeface="Arial"/>
                <a:cs typeface="Arial"/>
              </a:defRPr>
            </a:lvl6pPr>
            <a:lvl7pPr>
              <a:defRPr sz="1950" b="0">
                <a:solidFill>
                  <a:srgbClr val="53634F"/>
                </a:solidFill>
                <a:latin typeface="Arial"/>
                <a:ea typeface="Arial"/>
                <a:cs typeface="Arial"/>
              </a:defRPr>
            </a:lvl7pPr>
            <a:lvl8pPr>
              <a:defRPr sz="1950" b="0">
                <a:solidFill>
                  <a:srgbClr val="53634F"/>
                </a:solidFill>
                <a:latin typeface="Arial"/>
                <a:ea typeface="Arial"/>
                <a:cs typeface="Arial"/>
              </a:defRPr>
            </a:lvl8pPr>
            <a:lvl9pPr>
              <a:defRPr sz="1950" b="0">
                <a:solidFill>
                  <a:srgbClr val="53634F"/>
                </a:solidFill>
                <a:latin typeface="Arial"/>
                <a:ea typeface="Arial"/>
                <a:cs typeface="Arial"/>
              </a:defRPr>
            </a:lvl9pPr>
          </a:lstStyle>
          <a:p xmlns:a="http://schemas.openxmlformats.org/drawingml/2006/main">
            <a:pPr>
              <a:defRPr sz="1950" b="0">
                <a:solidFill>
                  <a:srgbClr val="53634F"/>
                </a:solidFill>
                <a:latin typeface="Arial"/>
                <a:ea typeface="Arial"/>
                <a:cs typeface="Arial"/>
              </a:defRPr>
            </a:pPr>
            <a:r>
              <a:rPr sz="1950" b="0">
                <a:solidFill>
                  <a:srgbClr val="53634F"/>
                </a:solidFill>
                <a:latin typeface="Arial"/>
                <a:ea typeface="Arial"/>
                <a:cs typeface="Arial"/>
              </a:rPr>
              <a:t>Platform revenue must cover payment, maps, support, refunds and acquisition costs.</a:t>
            </a:r>
          </a:p>
        </p:txBody>
      </p:sp>
    </p:spTree>
    <p:extLst>
      <p:ext uri="{BB962C8B-B14F-4D97-AF65-F5344CB8AC3E}">
        <p14:creationId xmlns:p14="http://schemas.microsoft.com/office/powerpoint/2010/main" val="1059497474"/>
      </p:ext>
    </p:extLst>
  </p:cSld>
</p:sld>
</file>

<file path=ppt/slides/slide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8E2FEA-7C45-41D2-92B6-C0D0A4DA1817}"/>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The proposed pilot</a:t>
            </a:r>
          </a:p>
        </p:txBody>
      </p:sp>
      <p:sp>
        <p:nvSpPr>
          <p:cNvPr id="2" name="">
            <a:extLst xmlns:a="http://schemas.openxmlformats.org/drawingml/2006/main">
              <a:ext uri="{FF2B5EF4-FFF2-40B4-BE49-F238E27FC236}">
                <a16:creationId xmlns:a16="http://schemas.microsoft.com/office/drawing/2014/main" id="{781847A0-9667-483E-9AEF-EBE6A1C1556E}"/>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479C76C8-0342-4F72-A681-5F1CE6F52F79}"/>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E8DBD78-E4E8-4870-80DD-1EF161D12779}"/>
              </a:ext>
            </a:extLst>
          </p:cNvPr>
          <p:cNvSpPr>
            <a:spLocks xmlns:a="http://schemas.openxmlformats.org/drawingml/2006/main" noGrp="1"/>
          </p:cNvSpPr>
          <p:nvPr/>
        </p:nvSpPr>
        <p:spPr>
          <a:xfrm xmlns:a="http://schemas.openxmlformats.org/drawingml/2006/main">
            <a:off x="685800" y="188595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73B2B"/>
                </a:solidFill>
                <a:latin typeface="Arial"/>
                <a:ea typeface="Arial"/>
                <a:cs typeface="Arial"/>
              </a:defRPr>
            </a:defPPr>
            <a:lvl1pPr>
              <a:defRPr sz="6450" b="1">
                <a:solidFill>
                  <a:srgbClr val="173B2B"/>
                </a:solidFill>
                <a:latin typeface="Arial"/>
                <a:ea typeface="Arial"/>
                <a:cs typeface="Arial"/>
              </a:defRPr>
            </a:lvl1pPr>
            <a:lvl2pPr>
              <a:defRPr sz="6450" b="1">
                <a:solidFill>
                  <a:srgbClr val="173B2B"/>
                </a:solidFill>
                <a:latin typeface="Arial"/>
                <a:ea typeface="Arial"/>
                <a:cs typeface="Arial"/>
              </a:defRPr>
            </a:lvl2pPr>
            <a:lvl3pPr>
              <a:defRPr sz="6450" b="1">
                <a:solidFill>
                  <a:srgbClr val="173B2B"/>
                </a:solidFill>
                <a:latin typeface="Arial"/>
                <a:ea typeface="Arial"/>
                <a:cs typeface="Arial"/>
              </a:defRPr>
            </a:lvl3pPr>
            <a:lvl4pPr>
              <a:defRPr sz="6450" b="1">
                <a:solidFill>
                  <a:srgbClr val="173B2B"/>
                </a:solidFill>
                <a:latin typeface="Arial"/>
                <a:ea typeface="Arial"/>
                <a:cs typeface="Arial"/>
              </a:defRPr>
            </a:lvl4pPr>
            <a:lvl5pPr>
              <a:defRPr sz="6450" b="1">
                <a:solidFill>
                  <a:srgbClr val="173B2B"/>
                </a:solidFill>
                <a:latin typeface="Arial"/>
                <a:ea typeface="Arial"/>
                <a:cs typeface="Arial"/>
              </a:defRPr>
            </a:lvl5pPr>
            <a:lvl6pPr>
              <a:defRPr sz="6450" b="1">
                <a:solidFill>
                  <a:srgbClr val="173B2B"/>
                </a:solidFill>
                <a:latin typeface="Arial"/>
                <a:ea typeface="Arial"/>
                <a:cs typeface="Arial"/>
              </a:defRPr>
            </a:lvl6pPr>
            <a:lvl7pPr>
              <a:defRPr sz="6450" b="1">
                <a:solidFill>
                  <a:srgbClr val="173B2B"/>
                </a:solidFill>
                <a:latin typeface="Arial"/>
                <a:ea typeface="Arial"/>
                <a:cs typeface="Arial"/>
              </a:defRPr>
            </a:lvl7pPr>
            <a:lvl8pPr>
              <a:defRPr sz="6450" b="1">
                <a:solidFill>
                  <a:srgbClr val="173B2B"/>
                </a:solidFill>
                <a:latin typeface="Arial"/>
                <a:ea typeface="Arial"/>
                <a:cs typeface="Arial"/>
              </a:defRPr>
            </a:lvl8pPr>
            <a:lvl9pPr>
              <a:defRPr sz="6450" b="1">
                <a:solidFill>
                  <a:srgbClr val="173B2B"/>
                </a:solidFill>
                <a:latin typeface="Arial"/>
                <a:ea typeface="Arial"/>
                <a:cs typeface="Arial"/>
              </a:defRPr>
            </a:lvl9pPr>
          </a:lstStyle>
          <a:p xmlns:a="http://schemas.openxmlformats.org/drawingml/2006/main">
            <a:pPr>
              <a:defRPr sz="6450" b="1">
                <a:solidFill>
                  <a:srgbClr val="173B2B"/>
                </a:solidFill>
                <a:latin typeface="Arial"/>
                <a:ea typeface="Arial"/>
                <a:cs typeface="Arial"/>
              </a:defRPr>
            </a:pPr>
            <a:r>
              <a:rPr sz="6450" b="1">
                <a:solidFill>
                  <a:srgbClr val="173B2B"/>
                </a:solidFill>
                <a:latin typeface="Arial"/>
                <a:ea typeface="Arial"/>
                <a:cs typeface="Arial"/>
              </a:rPr>
              <a:t>5–10</a:t>
            </a:r>
          </a:p>
        </p:txBody>
      </p:sp>
      <p:sp>
        <p:nvSpPr>
          <p:cNvPr id="5" name="">
            <a:extLst xmlns:a="http://schemas.openxmlformats.org/drawingml/2006/main">
              <a:ext uri="{FF2B5EF4-FFF2-40B4-BE49-F238E27FC236}">
                <a16:creationId xmlns:a16="http://schemas.microsoft.com/office/drawing/2014/main" id="{6A1DDC29-1F22-4969-A4E5-7E87965BFDA5}"/>
              </a:ext>
            </a:extLst>
          </p:cNvPr>
          <p:cNvSpPr>
            <a:spLocks xmlns:a="http://schemas.openxmlformats.org/drawingml/2006/main" noGrp="1"/>
          </p:cNvSpPr>
          <p:nvPr/>
        </p:nvSpPr>
        <p:spPr>
          <a:xfrm xmlns:a="http://schemas.openxmlformats.org/drawingml/2006/main">
            <a:off x="685800" y="3095625"/>
            <a:ext cx="461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3634F"/>
                </a:solidFill>
                <a:latin typeface="Arial"/>
                <a:ea typeface="Arial"/>
                <a:cs typeface="Arial"/>
              </a:defRPr>
            </a:defPPr>
            <a:lvl1pPr>
              <a:defRPr sz="2250" b="0">
                <a:solidFill>
                  <a:srgbClr val="53634F"/>
                </a:solidFill>
                <a:latin typeface="Arial"/>
                <a:ea typeface="Arial"/>
                <a:cs typeface="Arial"/>
              </a:defRPr>
            </a:lvl1pPr>
            <a:lvl2pPr>
              <a:defRPr sz="2250" b="0">
                <a:solidFill>
                  <a:srgbClr val="53634F"/>
                </a:solidFill>
                <a:latin typeface="Arial"/>
                <a:ea typeface="Arial"/>
                <a:cs typeface="Arial"/>
              </a:defRPr>
            </a:lvl2pPr>
            <a:lvl3pPr>
              <a:defRPr sz="2250" b="0">
                <a:solidFill>
                  <a:srgbClr val="53634F"/>
                </a:solidFill>
                <a:latin typeface="Arial"/>
                <a:ea typeface="Arial"/>
                <a:cs typeface="Arial"/>
              </a:defRPr>
            </a:lvl3pPr>
            <a:lvl4pPr>
              <a:defRPr sz="2250" b="0">
                <a:solidFill>
                  <a:srgbClr val="53634F"/>
                </a:solidFill>
                <a:latin typeface="Arial"/>
                <a:ea typeface="Arial"/>
                <a:cs typeface="Arial"/>
              </a:defRPr>
            </a:lvl4pPr>
            <a:lvl5pPr>
              <a:defRPr sz="2250" b="0">
                <a:solidFill>
                  <a:srgbClr val="53634F"/>
                </a:solidFill>
                <a:latin typeface="Arial"/>
                <a:ea typeface="Arial"/>
                <a:cs typeface="Arial"/>
              </a:defRPr>
            </a:lvl5pPr>
            <a:lvl6pPr>
              <a:defRPr sz="2250" b="0">
                <a:solidFill>
                  <a:srgbClr val="53634F"/>
                </a:solidFill>
                <a:latin typeface="Arial"/>
                <a:ea typeface="Arial"/>
                <a:cs typeface="Arial"/>
              </a:defRPr>
            </a:lvl6pPr>
            <a:lvl7pPr>
              <a:defRPr sz="2250" b="0">
                <a:solidFill>
                  <a:srgbClr val="53634F"/>
                </a:solidFill>
                <a:latin typeface="Arial"/>
                <a:ea typeface="Arial"/>
                <a:cs typeface="Arial"/>
              </a:defRPr>
            </a:lvl7pPr>
            <a:lvl8pPr>
              <a:defRPr sz="2250" b="0">
                <a:solidFill>
                  <a:srgbClr val="53634F"/>
                </a:solidFill>
                <a:latin typeface="Arial"/>
                <a:ea typeface="Arial"/>
                <a:cs typeface="Arial"/>
              </a:defRPr>
            </a:lvl8pPr>
            <a:lvl9pPr>
              <a:defRPr sz="2250" b="0">
                <a:solidFill>
                  <a:srgbClr val="53634F"/>
                </a:solidFill>
                <a:latin typeface="Arial"/>
                <a:ea typeface="Arial"/>
                <a:cs typeface="Arial"/>
              </a:defRPr>
            </a:lvl9pPr>
          </a:lstStyle>
          <a:p xmlns:a="http://schemas.openxmlformats.org/drawingml/2006/main">
            <a:pPr>
              <a:defRPr sz="2250" b="0">
                <a:solidFill>
                  <a:srgbClr val="53634F"/>
                </a:solidFill>
                <a:latin typeface="Arial"/>
                <a:ea typeface="Arial"/>
                <a:cs typeface="Arial"/>
              </a:defRPr>
            </a:pPr>
            <a:r>
              <a:rPr sz="2250" b="0">
                <a:solidFill>
                  <a:srgbClr val="53634F"/>
                </a:solidFill>
                <a:latin typeface="Arial"/>
                <a:ea typeface="Arial"/>
                <a:cs typeface="Arial"/>
              </a:rPr>
              <a:t>verified hosts in a concentrated area</a:t>
            </a:r>
          </a:p>
        </p:txBody>
      </p:sp>
      <p:sp>
        <p:nvSpPr>
          <p:cNvPr id="6" name="">
            <a:extLst xmlns:a="http://schemas.openxmlformats.org/drawingml/2006/main">
              <a:ext uri="{FF2B5EF4-FFF2-40B4-BE49-F238E27FC236}">
                <a16:creationId xmlns:a16="http://schemas.microsoft.com/office/drawing/2014/main" id="{FCF767FA-FCCA-4B09-A7AC-90CB3DFD9127}"/>
              </a:ext>
            </a:extLst>
          </p:cNvPr>
          <p:cNvSpPr>
            <a:spLocks xmlns:a="http://schemas.openxmlformats.org/drawingml/2006/main" noGrp="1"/>
          </p:cNvSpPr>
          <p:nvPr/>
        </p:nvSpPr>
        <p:spPr>
          <a:xfrm xmlns:a="http://schemas.openxmlformats.org/drawingml/2006/main">
            <a:off x="6705600" y="188595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73B2B"/>
                </a:solidFill>
                <a:latin typeface="Arial"/>
                <a:ea typeface="Arial"/>
                <a:cs typeface="Arial"/>
              </a:defRPr>
            </a:defPPr>
            <a:lvl1pPr>
              <a:defRPr sz="6450" b="1">
                <a:solidFill>
                  <a:srgbClr val="173B2B"/>
                </a:solidFill>
                <a:latin typeface="Arial"/>
                <a:ea typeface="Arial"/>
                <a:cs typeface="Arial"/>
              </a:defRPr>
            </a:lvl1pPr>
            <a:lvl2pPr>
              <a:defRPr sz="6450" b="1">
                <a:solidFill>
                  <a:srgbClr val="173B2B"/>
                </a:solidFill>
                <a:latin typeface="Arial"/>
                <a:ea typeface="Arial"/>
                <a:cs typeface="Arial"/>
              </a:defRPr>
            </a:lvl2pPr>
            <a:lvl3pPr>
              <a:defRPr sz="6450" b="1">
                <a:solidFill>
                  <a:srgbClr val="173B2B"/>
                </a:solidFill>
                <a:latin typeface="Arial"/>
                <a:ea typeface="Arial"/>
                <a:cs typeface="Arial"/>
              </a:defRPr>
            </a:lvl3pPr>
            <a:lvl4pPr>
              <a:defRPr sz="6450" b="1">
                <a:solidFill>
                  <a:srgbClr val="173B2B"/>
                </a:solidFill>
                <a:latin typeface="Arial"/>
                <a:ea typeface="Arial"/>
                <a:cs typeface="Arial"/>
              </a:defRPr>
            </a:lvl4pPr>
            <a:lvl5pPr>
              <a:defRPr sz="6450" b="1">
                <a:solidFill>
                  <a:srgbClr val="173B2B"/>
                </a:solidFill>
                <a:latin typeface="Arial"/>
                <a:ea typeface="Arial"/>
                <a:cs typeface="Arial"/>
              </a:defRPr>
            </a:lvl5pPr>
            <a:lvl6pPr>
              <a:defRPr sz="6450" b="1">
                <a:solidFill>
                  <a:srgbClr val="173B2B"/>
                </a:solidFill>
                <a:latin typeface="Arial"/>
                <a:ea typeface="Arial"/>
                <a:cs typeface="Arial"/>
              </a:defRPr>
            </a:lvl6pPr>
            <a:lvl7pPr>
              <a:defRPr sz="6450" b="1">
                <a:solidFill>
                  <a:srgbClr val="173B2B"/>
                </a:solidFill>
                <a:latin typeface="Arial"/>
                <a:ea typeface="Arial"/>
                <a:cs typeface="Arial"/>
              </a:defRPr>
            </a:lvl7pPr>
            <a:lvl8pPr>
              <a:defRPr sz="6450" b="1">
                <a:solidFill>
                  <a:srgbClr val="173B2B"/>
                </a:solidFill>
                <a:latin typeface="Arial"/>
                <a:ea typeface="Arial"/>
                <a:cs typeface="Arial"/>
              </a:defRPr>
            </a:lvl8pPr>
            <a:lvl9pPr>
              <a:defRPr sz="6450" b="1">
                <a:solidFill>
                  <a:srgbClr val="173B2B"/>
                </a:solidFill>
                <a:latin typeface="Arial"/>
                <a:ea typeface="Arial"/>
                <a:cs typeface="Arial"/>
              </a:defRPr>
            </a:lvl9pPr>
          </a:lstStyle>
          <a:p xmlns:a="http://schemas.openxmlformats.org/drawingml/2006/main">
            <a:pPr>
              <a:defRPr sz="6450" b="1">
                <a:solidFill>
                  <a:srgbClr val="173B2B"/>
                </a:solidFill>
                <a:latin typeface="Arial"/>
                <a:ea typeface="Arial"/>
                <a:cs typeface="Arial"/>
              </a:defRPr>
            </a:pPr>
            <a:r>
              <a:rPr sz="6450" b="1">
                <a:solidFill>
                  <a:srgbClr val="173B2B"/>
                </a:solidFill>
                <a:latin typeface="Arial"/>
                <a:ea typeface="Arial"/>
                <a:cs typeface="Arial"/>
              </a:rPr>
              <a:t>30–50</a:t>
            </a:r>
          </a:p>
        </p:txBody>
      </p:sp>
      <p:sp>
        <p:nvSpPr>
          <p:cNvPr id="7" name="">
            <a:extLst xmlns:a="http://schemas.openxmlformats.org/drawingml/2006/main">
              <a:ext uri="{FF2B5EF4-FFF2-40B4-BE49-F238E27FC236}">
                <a16:creationId xmlns:a16="http://schemas.microsoft.com/office/drawing/2014/main" id="{0CE46C58-9DAD-487B-AEC1-60B6281DDFA8}"/>
              </a:ext>
            </a:extLst>
          </p:cNvPr>
          <p:cNvSpPr>
            <a:spLocks xmlns:a="http://schemas.openxmlformats.org/drawingml/2006/main" noGrp="1"/>
          </p:cNvSpPr>
          <p:nvPr/>
        </p:nvSpPr>
        <p:spPr>
          <a:xfrm xmlns:a="http://schemas.openxmlformats.org/drawingml/2006/main">
            <a:off x="6705600" y="309562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3634F"/>
                </a:solidFill>
                <a:latin typeface="Arial"/>
                <a:ea typeface="Arial"/>
                <a:cs typeface="Arial"/>
              </a:defRPr>
            </a:defPPr>
            <a:lvl1pPr>
              <a:defRPr sz="2250" b="0">
                <a:solidFill>
                  <a:srgbClr val="53634F"/>
                </a:solidFill>
                <a:latin typeface="Arial"/>
                <a:ea typeface="Arial"/>
                <a:cs typeface="Arial"/>
              </a:defRPr>
            </a:lvl1pPr>
            <a:lvl2pPr>
              <a:defRPr sz="2250" b="0">
                <a:solidFill>
                  <a:srgbClr val="53634F"/>
                </a:solidFill>
                <a:latin typeface="Arial"/>
                <a:ea typeface="Arial"/>
                <a:cs typeface="Arial"/>
              </a:defRPr>
            </a:lvl2pPr>
            <a:lvl3pPr>
              <a:defRPr sz="2250" b="0">
                <a:solidFill>
                  <a:srgbClr val="53634F"/>
                </a:solidFill>
                <a:latin typeface="Arial"/>
                <a:ea typeface="Arial"/>
                <a:cs typeface="Arial"/>
              </a:defRPr>
            </a:lvl3pPr>
            <a:lvl4pPr>
              <a:defRPr sz="2250" b="0">
                <a:solidFill>
                  <a:srgbClr val="53634F"/>
                </a:solidFill>
                <a:latin typeface="Arial"/>
                <a:ea typeface="Arial"/>
                <a:cs typeface="Arial"/>
              </a:defRPr>
            </a:lvl4pPr>
            <a:lvl5pPr>
              <a:defRPr sz="2250" b="0">
                <a:solidFill>
                  <a:srgbClr val="53634F"/>
                </a:solidFill>
                <a:latin typeface="Arial"/>
                <a:ea typeface="Arial"/>
                <a:cs typeface="Arial"/>
              </a:defRPr>
            </a:lvl5pPr>
            <a:lvl6pPr>
              <a:defRPr sz="2250" b="0">
                <a:solidFill>
                  <a:srgbClr val="53634F"/>
                </a:solidFill>
                <a:latin typeface="Arial"/>
                <a:ea typeface="Arial"/>
                <a:cs typeface="Arial"/>
              </a:defRPr>
            </a:lvl6pPr>
            <a:lvl7pPr>
              <a:defRPr sz="2250" b="0">
                <a:solidFill>
                  <a:srgbClr val="53634F"/>
                </a:solidFill>
                <a:latin typeface="Arial"/>
                <a:ea typeface="Arial"/>
                <a:cs typeface="Arial"/>
              </a:defRPr>
            </a:lvl7pPr>
            <a:lvl8pPr>
              <a:defRPr sz="2250" b="0">
                <a:solidFill>
                  <a:srgbClr val="53634F"/>
                </a:solidFill>
                <a:latin typeface="Arial"/>
                <a:ea typeface="Arial"/>
                <a:cs typeface="Arial"/>
              </a:defRPr>
            </a:lvl8pPr>
            <a:lvl9pPr>
              <a:defRPr sz="2250" b="0">
                <a:solidFill>
                  <a:srgbClr val="53634F"/>
                </a:solidFill>
                <a:latin typeface="Arial"/>
                <a:ea typeface="Arial"/>
                <a:cs typeface="Arial"/>
              </a:defRPr>
            </a:lvl9pPr>
          </a:lstStyle>
          <a:p xmlns:a="http://schemas.openxmlformats.org/drawingml/2006/main">
            <a:pPr>
              <a:defRPr sz="2250" b="0">
                <a:solidFill>
                  <a:srgbClr val="53634F"/>
                </a:solidFill>
                <a:latin typeface="Arial"/>
                <a:ea typeface="Arial"/>
                <a:cs typeface="Arial"/>
              </a:defRPr>
            </a:pPr>
            <a:r>
              <a:rPr sz="2250" b="0">
                <a:solidFill>
                  <a:srgbClr val="53634F"/>
                </a:solidFill>
                <a:latin typeface="Arial"/>
                <a:ea typeface="Arial"/>
                <a:cs typeface="Arial"/>
              </a:rPr>
              <a:t>supervised sessions after launch approval</a:t>
            </a:r>
          </a:p>
        </p:txBody>
      </p:sp>
      <p:sp>
        <p:nvSpPr>
          <p:cNvPr id="8" name="">
            <a:extLst xmlns:a="http://schemas.openxmlformats.org/drawingml/2006/main">
              <a:ext uri="{FF2B5EF4-FFF2-40B4-BE49-F238E27FC236}">
                <a16:creationId xmlns:a16="http://schemas.microsoft.com/office/drawing/2014/main" id="{40D90C23-A055-4A9C-8204-9C82DA9B3327}"/>
              </a:ext>
            </a:extLst>
          </p:cNvPr>
          <p:cNvSpPr>
            <a:spLocks xmlns:a="http://schemas.openxmlformats.org/drawingml/2006/main" noGrp="1"/>
          </p:cNvSpPr>
          <p:nvPr/>
        </p:nvSpPr>
        <p:spPr>
          <a:xfrm xmlns:a="http://schemas.openxmlformats.org/drawingml/2006/main">
            <a:off x="685800" y="452437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B2B"/>
                </a:solidFill>
                <a:latin typeface="Arial"/>
                <a:ea typeface="Arial"/>
                <a:cs typeface="Arial"/>
              </a:defRPr>
            </a:defPPr>
            <a:lvl1pPr>
              <a:defRPr sz="2325" b="1">
                <a:solidFill>
                  <a:srgbClr val="173B2B"/>
                </a:solidFill>
                <a:latin typeface="Arial"/>
                <a:ea typeface="Arial"/>
                <a:cs typeface="Arial"/>
              </a:defRPr>
            </a:lvl1pPr>
            <a:lvl2pPr>
              <a:defRPr sz="2325" b="1">
                <a:solidFill>
                  <a:srgbClr val="173B2B"/>
                </a:solidFill>
                <a:latin typeface="Arial"/>
                <a:ea typeface="Arial"/>
                <a:cs typeface="Arial"/>
              </a:defRPr>
            </a:lvl2pPr>
            <a:lvl3pPr>
              <a:defRPr sz="2325" b="1">
                <a:solidFill>
                  <a:srgbClr val="173B2B"/>
                </a:solidFill>
                <a:latin typeface="Arial"/>
                <a:ea typeface="Arial"/>
                <a:cs typeface="Arial"/>
              </a:defRPr>
            </a:lvl3pPr>
            <a:lvl4pPr>
              <a:defRPr sz="2325" b="1">
                <a:solidFill>
                  <a:srgbClr val="173B2B"/>
                </a:solidFill>
                <a:latin typeface="Arial"/>
                <a:ea typeface="Arial"/>
                <a:cs typeface="Arial"/>
              </a:defRPr>
            </a:lvl4pPr>
            <a:lvl5pPr>
              <a:defRPr sz="2325" b="1">
                <a:solidFill>
                  <a:srgbClr val="173B2B"/>
                </a:solidFill>
                <a:latin typeface="Arial"/>
                <a:ea typeface="Arial"/>
                <a:cs typeface="Arial"/>
              </a:defRPr>
            </a:lvl5pPr>
            <a:lvl6pPr>
              <a:defRPr sz="2325" b="1">
                <a:solidFill>
                  <a:srgbClr val="173B2B"/>
                </a:solidFill>
                <a:latin typeface="Arial"/>
                <a:ea typeface="Arial"/>
                <a:cs typeface="Arial"/>
              </a:defRPr>
            </a:lvl6pPr>
            <a:lvl7pPr>
              <a:defRPr sz="2325" b="1">
                <a:solidFill>
                  <a:srgbClr val="173B2B"/>
                </a:solidFill>
                <a:latin typeface="Arial"/>
                <a:ea typeface="Arial"/>
                <a:cs typeface="Arial"/>
              </a:defRPr>
            </a:lvl7pPr>
            <a:lvl8pPr>
              <a:defRPr sz="2325" b="1">
                <a:solidFill>
                  <a:srgbClr val="173B2B"/>
                </a:solidFill>
                <a:latin typeface="Arial"/>
                <a:ea typeface="Arial"/>
                <a:cs typeface="Arial"/>
              </a:defRPr>
            </a:lvl8pPr>
            <a:lvl9pPr>
              <a:defRPr sz="2325" b="1">
                <a:solidFill>
                  <a:srgbClr val="173B2B"/>
                </a:solidFill>
                <a:latin typeface="Arial"/>
                <a:ea typeface="Arial"/>
                <a:cs typeface="Arial"/>
              </a:defRPr>
            </a:lvl9pPr>
          </a:lstStyle>
          <a:p xmlns:a="http://schemas.openxmlformats.org/drawingml/2006/main">
            <a:pPr>
              <a:defRPr sz="2325" b="1">
                <a:solidFill>
                  <a:srgbClr val="173B2B"/>
                </a:solidFill>
                <a:latin typeface="Arial"/>
                <a:ea typeface="Arial"/>
                <a:cs typeface="Arial"/>
              </a:defRPr>
            </a:pPr>
            <a:r>
              <a:rPr sz="2325" b="1">
                <a:solidFill>
                  <a:srgbClr val="173B2B"/>
                </a:solidFill>
                <a:latin typeface="Arial"/>
                <a:ea typeface="Arial"/>
                <a:cs typeface="Arial"/>
              </a:rPr>
              <a:t>Driver discovery</a:t>
            </a:r>
          </a:p>
        </p:txBody>
      </p:sp>
      <p:sp>
        <p:nvSpPr>
          <p:cNvPr id="9" name="">
            <a:extLst xmlns:a="http://schemas.openxmlformats.org/drawingml/2006/main">
              <a:ext uri="{FF2B5EF4-FFF2-40B4-BE49-F238E27FC236}">
                <a16:creationId xmlns:a16="http://schemas.microsoft.com/office/drawing/2014/main" id="{48A831D5-4205-48D2-B7E6-A188B2880EAC}"/>
              </a:ext>
            </a:extLst>
          </p:cNvPr>
          <p:cNvSpPr>
            <a:spLocks xmlns:a="http://schemas.openxmlformats.org/drawingml/2006/main" noGrp="1"/>
          </p:cNvSpPr>
          <p:nvPr/>
        </p:nvSpPr>
        <p:spPr>
          <a:xfrm xmlns:a="http://schemas.openxmlformats.org/drawingml/2006/main">
            <a:off x="4381500" y="4524375"/>
            <a:ext cx="685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34F"/>
                </a:solidFill>
                <a:latin typeface="Arial"/>
                <a:ea typeface="Arial"/>
                <a:cs typeface="Arial"/>
              </a:defRPr>
            </a:defPPr>
            <a:lvl1pPr>
              <a:defRPr sz="2175" b="0">
                <a:solidFill>
                  <a:srgbClr val="53634F"/>
                </a:solidFill>
                <a:latin typeface="Arial"/>
                <a:ea typeface="Arial"/>
                <a:cs typeface="Arial"/>
              </a:defRPr>
            </a:lvl1pPr>
            <a:lvl2pPr>
              <a:defRPr sz="2175" b="0">
                <a:solidFill>
                  <a:srgbClr val="53634F"/>
                </a:solidFill>
                <a:latin typeface="Arial"/>
                <a:ea typeface="Arial"/>
                <a:cs typeface="Arial"/>
              </a:defRPr>
            </a:lvl2pPr>
            <a:lvl3pPr>
              <a:defRPr sz="2175" b="0">
                <a:solidFill>
                  <a:srgbClr val="53634F"/>
                </a:solidFill>
                <a:latin typeface="Arial"/>
                <a:ea typeface="Arial"/>
                <a:cs typeface="Arial"/>
              </a:defRPr>
            </a:lvl3pPr>
            <a:lvl4pPr>
              <a:defRPr sz="2175" b="0">
                <a:solidFill>
                  <a:srgbClr val="53634F"/>
                </a:solidFill>
                <a:latin typeface="Arial"/>
                <a:ea typeface="Arial"/>
                <a:cs typeface="Arial"/>
              </a:defRPr>
            </a:lvl4pPr>
            <a:lvl5pPr>
              <a:defRPr sz="2175" b="0">
                <a:solidFill>
                  <a:srgbClr val="53634F"/>
                </a:solidFill>
                <a:latin typeface="Arial"/>
                <a:ea typeface="Arial"/>
                <a:cs typeface="Arial"/>
              </a:defRPr>
            </a:lvl5pPr>
            <a:lvl6pPr>
              <a:defRPr sz="2175" b="0">
                <a:solidFill>
                  <a:srgbClr val="53634F"/>
                </a:solidFill>
                <a:latin typeface="Arial"/>
                <a:ea typeface="Arial"/>
                <a:cs typeface="Arial"/>
              </a:defRPr>
            </a:lvl6pPr>
            <a:lvl7pPr>
              <a:defRPr sz="2175" b="0">
                <a:solidFill>
                  <a:srgbClr val="53634F"/>
                </a:solidFill>
                <a:latin typeface="Arial"/>
                <a:ea typeface="Arial"/>
                <a:cs typeface="Arial"/>
              </a:defRPr>
            </a:lvl7pPr>
            <a:lvl8pPr>
              <a:defRPr sz="2175" b="0">
                <a:solidFill>
                  <a:srgbClr val="53634F"/>
                </a:solidFill>
                <a:latin typeface="Arial"/>
                <a:ea typeface="Arial"/>
                <a:cs typeface="Arial"/>
              </a:defRPr>
            </a:lvl8pPr>
            <a:lvl9pPr>
              <a:defRPr sz="2175" b="0">
                <a:solidFill>
                  <a:srgbClr val="53634F"/>
                </a:solidFill>
                <a:latin typeface="Arial"/>
                <a:ea typeface="Arial"/>
                <a:cs typeface="Arial"/>
              </a:defRPr>
            </a:lvl9pPr>
          </a:lstStyle>
          <a:p xmlns:a="http://schemas.openxmlformats.org/drawingml/2006/main">
            <a:pPr>
              <a:defRPr sz="2175" b="0">
                <a:solidFill>
                  <a:srgbClr val="53634F"/>
                </a:solidFill>
                <a:latin typeface="Arial"/>
                <a:ea typeface="Arial"/>
                <a:cs typeface="Arial"/>
              </a:defRPr>
            </a:pPr>
            <a:r>
              <a:rPr sz="2175" b="0">
                <a:solidFill>
                  <a:srgbClr val="53634F"/>
                </a:solidFill>
                <a:latin typeface="Arial"/>
                <a:ea typeface="Arial"/>
                <a:cs typeface="Arial"/>
              </a:rPr>
              <a:t>20–30 interviews to test the need and current alternatives</a:t>
            </a:r>
          </a:p>
        </p:txBody>
      </p:sp>
      <p:sp>
        <p:nvSpPr>
          <p:cNvPr id="10" name="">
            <a:extLst xmlns:a="http://schemas.openxmlformats.org/drawingml/2006/main">
              <a:ext uri="{FF2B5EF4-FFF2-40B4-BE49-F238E27FC236}">
                <a16:creationId xmlns:a16="http://schemas.microsoft.com/office/drawing/2014/main" id="{501FBF4A-CB29-4453-B39C-500B4CC6E6AA}"/>
              </a:ext>
            </a:extLst>
          </p:cNvPr>
          <p:cNvSpPr>
            <a:spLocks xmlns:a="http://schemas.openxmlformats.org/drawingml/2006/main" noGrp="1"/>
          </p:cNvSpPr>
          <p:nvPr/>
        </p:nvSpPr>
        <p:spPr>
          <a:xfrm xmlns:a="http://schemas.openxmlformats.org/drawingml/2006/main">
            <a:off x="685800" y="57721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3B2B"/>
                </a:solidFill>
                <a:latin typeface="Arial"/>
                <a:ea typeface="Arial"/>
                <a:cs typeface="Arial"/>
              </a:defRPr>
            </a:defPPr>
            <a:lvl1pPr>
              <a:defRPr sz="1800" b="0">
                <a:solidFill>
                  <a:srgbClr val="173B2B"/>
                </a:solidFill>
                <a:latin typeface="Arial"/>
                <a:ea typeface="Arial"/>
                <a:cs typeface="Arial"/>
              </a:defRPr>
            </a:lvl1pPr>
            <a:lvl2pPr>
              <a:defRPr sz="1800" b="0">
                <a:solidFill>
                  <a:srgbClr val="173B2B"/>
                </a:solidFill>
                <a:latin typeface="Arial"/>
                <a:ea typeface="Arial"/>
                <a:cs typeface="Arial"/>
              </a:defRPr>
            </a:lvl2pPr>
            <a:lvl3pPr>
              <a:defRPr sz="1800" b="0">
                <a:solidFill>
                  <a:srgbClr val="173B2B"/>
                </a:solidFill>
                <a:latin typeface="Arial"/>
                <a:ea typeface="Arial"/>
                <a:cs typeface="Arial"/>
              </a:defRPr>
            </a:lvl3pPr>
            <a:lvl4pPr>
              <a:defRPr sz="1800" b="0">
                <a:solidFill>
                  <a:srgbClr val="173B2B"/>
                </a:solidFill>
                <a:latin typeface="Arial"/>
                <a:ea typeface="Arial"/>
                <a:cs typeface="Arial"/>
              </a:defRPr>
            </a:lvl4pPr>
            <a:lvl5pPr>
              <a:defRPr sz="1800" b="0">
                <a:solidFill>
                  <a:srgbClr val="173B2B"/>
                </a:solidFill>
                <a:latin typeface="Arial"/>
                <a:ea typeface="Arial"/>
                <a:cs typeface="Arial"/>
              </a:defRPr>
            </a:lvl5pPr>
            <a:lvl6pPr>
              <a:defRPr sz="1800" b="0">
                <a:solidFill>
                  <a:srgbClr val="173B2B"/>
                </a:solidFill>
                <a:latin typeface="Arial"/>
                <a:ea typeface="Arial"/>
                <a:cs typeface="Arial"/>
              </a:defRPr>
            </a:lvl6pPr>
            <a:lvl7pPr>
              <a:defRPr sz="1800" b="0">
                <a:solidFill>
                  <a:srgbClr val="173B2B"/>
                </a:solidFill>
                <a:latin typeface="Arial"/>
                <a:ea typeface="Arial"/>
                <a:cs typeface="Arial"/>
              </a:defRPr>
            </a:lvl7pPr>
            <a:lvl8pPr>
              <a:defRPr sz="1800" b="0">
                <a:solidFill>
                  <a:srgbClr val="173B2B"/>
                </a:solidFill>
                <a:latin typeface="Arial"/>
                <a:ea typeface="Arial"/>
                <a:cs typeface="Arial"/>
              </a:defRPr>
            </a:lvl8pPr>
            <a:lvl9pPr>
              <a:defRPr sz="1800" b="0">
                <a:solidFill>
                  <a:srgbClr val="173B2B"/>
                </a:solidFill>
                <a:latin typeface="Arial"/>
                <a:ea typeface="Arial"/>
                <a:cs typeface="Arial"/>
              </a:defRPr>
            </a:lvl9pPr>
          </a:lstStyle>
          <a:p xmlns:a="http://schemas.openxmlformats.org/drawingml/2006/main">
            <a:pPr>
              <a:defRPr sz="1800" b="0">
                <a:solidFill>
                  <a:srgbClr val="173B2B"/>
                </a:solidFill>
                <a:latin typeface="Arial"/>
                <a:ea typeface="Arial"/>
                <a:cs typeface="Arial"/>
              </a:defRPr>
            </a:pPr>
            <a:r>
              <a:rPr sz="1800" b="0">
                <a:solidFill>
                  <a:srgbClr val="173B2B"/>
                </a:solidFill>
                <a:latin typeface="Arial"/>
                <a:ea typeface="Arial"/>
                <a:cs typeface="Arial"/>
              </a:rPr>
              <a:t>Planning targets only. No host, customer or completed-session traction is claimed.</a:t>
            </a:r>
          </a:p>
        </p:txBody>
      </p:sp>
    </p:spTree>
    <p:extLst>
      <p:ext uri="{BB962C8B-B14F-4D97-AF65-F5344CB8AC3E}">
        <p14:creationId xmlns:p14="http://schemas.microsoft.com/office/powerpoint/2010/main" val="515843579"/>
      </p:ext>
    </p:extLst>
  </p:cSld>
</p:sld>
</file>

<file path=ppt/slides/slide9.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DF12A9-2A03-4CF4-90A3-6D8F7686A442}"/>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B2B"/>
                </a:solidFill>
                <a:latin typeface="Arial"/>
                <a:ea typeface="Arial"/>
                <a:cs typeface="Arial"/>
              </a:defRPr>
            </a:defPPr>
            <a:lvl1pPr>
              <a:defRPr sz="3600" b="1">
                <a:solidFill>
                  <a:srgbClr val="173B2B"/>
                </a:solidFill>
                <a:latin typeface="Arial"/>
                <a:ea typeface="Arial"/>
                <a:cs typeface="Arial"/>
              </a:defRPr>
            </a:lvl1pPr>
            <a:lvl2pPr>
              <a:defRPr sz="3600" b="1">
                <a:solidFill>
                  <a:srgbClr val="173B2B"/>
                </a:solidFill>
                <a:latin typeface="Arial"/>
                <a:ea typeface="Arial"/>
                <a:cs typeface="Arial"/>
              </a:defRPr>
            </a:lvl2pPr>
            <a:lvl3pPr>
              <a:defRPr sz="3600" b="1">
                <a:solidFill>
                  <a:srgbClr val="173B2B"/>
                </a:solidFill>
                <a:latin typeface="Arial"/>
                <a:ea typeface="Arial"/>
                <a:cs typeface="Arial"/>
              </a:defRPr>
            </a:lvl3pPr>
            <a:lvl4pPr>
              <a:defRPr sz="3600" b="1">
                <a:solidFill>
                  <a:srgbClr val="173B2B"/>
                </a:solidFill>
                <a:latin typeface="Arial"/>
                <a:ea typeface="Arial"/>
                <a:cs typeface="Arial"/>
              </a:defRPr>
            </a:lvl4pPr>
            <a:lvl5pPr>
              <a:defRPr sz="3600" b="1">
                <a:solidFill>
                  <a:srgbClr val="173B2B"/>
                </a:solidFill>
                <a:latin typeface="Arial"/>
                <a:ea typeface="Arial"/>
                <a:cs typeface="Arial"/>
              </a:defRPr>
            </a:lvl5pPr>
            <a:lvl6pPr>
              <a:defRPr sz="3600" b="1">
                <a:solidFill>
                  <a:srgbClr val="173B2B"/>
                </a:solidFill>
                <a:latin typeface="Arial"/>
                <a:ea typeface="Arial"/>
                <a:cs typeface="Arial"/>
              </a:defRPr>
            </a:lvl6pPr>
            <a:lvl7pPr>
              <a:defRPr sz="3600" b="1">
                <a:solidFill>
                  <a:srgbClr val="173B2B"/>
                </a:solidFill>
                <a:latin typeface="Arial"/>
                <a:ea typeface="Arial"/>
                <a:cs typeface="Arial"/>
              </a:defRPr>
            </a:lvl7pPr>
            <a:lvl8pPr>
              <a:defRPr sz="3600" b="1">
                <a:solidFill>
                  <a:srgbClr val="173B2B"/>
                </a:solidFill>
                <a:latin typeface="Arial"/>
                <a:ea typeface="Arial"/>
                <a:cs typeface="Arial"/>
              </a:defRPr>
            </a:lvl8pPr>
            <a:lvl9pPr>
              <a:defRPr sz="3600" b="1">
                <a:solidFill>
                  <a:srgbClr val="173B2B"/>
                </a:solidFill>
                <a:latin typeface="Arial"/>
                <a:ea typeface="Arial"/>
                <a:cs typeface="Arial"/>
              </a:defRPr>
            </a:lvl9pPr>
          </a:lstStyle>
          <a:p xmlns:a="http://schemas.openxmlformats.org/drawingml/2006/main">
            <a:pPr>
              <a:defRPr sz="3600" b="1">
                <a:solidFill>
                  <a:srgbClr val="173B2B"/>
                </a:solidFill>
                <a:latin typeface="Arial"/>
                <a:ea typeface="Arial"/>
                <a:cs typeface="Arial"/>
              </a:defRPr>
            </a:pPr>
            <a:r>
              <a:rPr sz="3600" b="1">
                <a:solidFill>
                  <a:srgbClr val="173B2B"/>
                </a:solidFill>
                <a:latin typeface="Arial"/>
                <a:ea typeface="Arial"/>
                <a:cs typeface="Arial"/>
              </a:rPr>
              <a:t>Product progress and launch gates</a:t>
            </a:r>
          </a:p>
        </p:txBody>
      </p:sp>
      <p:sp>
        <p:nvSpPr>
          <p:cNvPr id="2" name="">
            <a:extLst xmlns:a="http://schemas.openxmlformats.org/drawingml/2006/main">
              <a:ext uri="{FF2B5EF4-FFF2-40B4-BE49-F238E27FC236}">
                <a16:creationId xmlns:a16="http://schemas.microsoft.com/office/drawing/2014/main" id="{2482F5C5-F93F-49C2-B51B-892C2A7DA2DA}"/>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C7C919F5-6770-4B31-8910-3A30E60B0DBD}"/>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34F"/>
                </a:solidFill>
                <a:latin typeface="Arial"/>
                <a:ea typeface="Arial"/>
                <a:cs typeface="Arial"/>
              </a:defRPr>
            </a:defPPr>
            <a:lvl1pPr>
              <a:defRPr sz="1350" b="0">
                <a:solidFill>
                  <a:srgbClr val="53634F"/>
                </a:solidFill>
                <a:latin typeface="Arial"/>
                <a:ea typeface="Arial"/>
                <a:cs typeface="Arial"/>
              </a:defRPr>
            </a:lvl1pPr>
            <a:lvl2pPr>
              <a:defRPr sz="1350" b="0">
                <a:solidFill>
                  <a:srgbClr val="53634F"/>
                </a:solidFill>
                <a:latin typeface="Arial"/>
                <a:ea typeface="Arial"/>
                <a:cs typeface="Arial"/>
              </a:defRPr>
            </a:lvl2pPr>
            <a:lvl3pPr>
              <a:defRPr sz="1350" b="0">
                <a:solidFill>
                  <a:srgbClr val="53634F"/>
                </a:solidFill>
                <a:latin typeface="Arial"/>
                <a:ea typeface="Arial"/>
                <a:cs typeface="Arial"/>
              </a:defRPr>
            </a:lvl3pPr>
            <a:lvl4pPr>
              <a:defRPr sz="1350" b="0">
                <a:solidFill>
                  <a:srgbClr val="53634F"/>
                </a:solidFill>
                <a:latin typeface="Arial"/>
                <a:ea typeface="Arial"/>
                <a:cs typeface="Arial"/>
              </a:defRPr>
            </a:lvl4pPr>
            <a:lvl5pPr>
              <a:defRPr sz="1350" b="0">
                <a:solidFill>
                  <a:srgbClr val="53634F"/>
                </a:solidFill>
                <a:latin typeface="Arial"/>
                <a:ea typeface="Arial"/>
                <a:cs typeface="Arial"/>
              </a:defRPr>
            </a:lvl5pPr>
            <a:lvl6pPr>
              <a:defRPr sz="1350" b="0">
                <a:solidFill>
                  <a:srgbClr val="53634F"/>
                </a:solidFill>
                <a:latin typeface="Arial"/>
                <a:ea typeface="Arial"/>
                <a:cs typeface="Arial"/>
              </a:defRPr>
            </a:lvl6pPr>
            <a:lvl7pPr>
              <a:defRPr sz="1350" b="0">
                <a:solidFill>
                  <a:srgbClr val="53634F"/>
                </a:solidFill>
                <a:latin typeface="Arial"/>
                <a:ea typeface="Arial"/>
                <a:cs typeface="Arial"/>
              </a:defRPr>
            </a:lvl7pPr>
            <a:lvl8pPr>
              <a:defRPr sz="1350" b="0">
                <a:solidFill>
                  <a:srgbClr val="53634F"/>
                </a:solidFill>
                <a:latin typeface="Arial"/>
                <a:ea typeface="Arial"/>
                <a:cs typeface="Arial"/>
              </a:defRPr>
            </a:lvl8pPr>
            <a:lvl9pPr>
              <a:defRPr sz="1350" b="0">
                <a:solidFill>
                  <a:srgbClr val="53634F"/>
                </a:solidFill>
                <a:latin typeface="Arial"/>
                <a:ea typeface="Arial"/>
                <a:cs typeface="Arial"/>
              </a:defRPr>
            </a:lvl9pPr>
          </a:lstStyle>
          <a:p xmlns:a="http://schemas.openxmlformats.org/drawingml/2006/main">
            <a:pPr>
              <a:defRPr sz="1350" b="0">
                <a:solidFill>
                  <a:srgbClr val="53634F"/>
                </a:solidFill>
                <a:latin typeface="Arial"/>
                <a:ea typeface="Arial"/>
                <a:cs typeface="Arial"/>
              </a:defRPr>
            </a:pPr>
            <a:r>
              <a:rPr sz="1350" b="0">
                <a:solidFill>
                  <a:srgbClr val="53634F"/>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5D3E87A-FACC-4D73-BF97-FB7E45B397AB}"/>
              </a:ext>
            </a:extLst>
          </p:cNvPr>
          <p:cNvSpPr>
            <a:spLocks xmlns:a="http://schemas.openxmlformats.org/drawingml/2006/main" noGrp="1"/>
          </p:cNvSpPr>
          <p:nvPr/>
        </p:nvSpPr>
        <p:spPr>
          <a:xfrm xmlns:a="http://schemas.openxmlformats.org/drawingml/2006/main">
            <a:off x="685800" y="18192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2B"/>
                </a:solidFill>
                <a:latin typeface="Arial"/>
                <a:ea typeface="Arial"/>
                <a:cs typeface="Arial"/>
              </a:defRPr>
            </a:defPPr>
            <a:lvl1pPr>
              <a:defRPr sz="2550" b="1">
                <a:solidFill>
                  <a:srgbClr val="173B2B"/>
                </a:solidFill>
                <a:latin typeface="Arial"/>
                <a:ea typeface="Arial"/>
                <a:cs typeface="Arial"/>
              </a:defRPr>
            </a:lvl1pPr>
            <a:lvl2pPr>
              <a:defRPr sz="2550" b="1">
                <a:solidFill>
                  <a:srgbClr val="173B2B"/>
                </a:solidFill>
                <a:latin typeface="Arial"/>
                <a:ea typeface="Arial"/>
                <a:cs typeface="Arial"/>
              </a:defRPr>
            </a:lvl2pPr>
            <a:lvl3pPr>
              <a:defRPr sz="2550" b="1">
                <a:solidFill>
                  <a:srgbClr val="173B2B"/>
                </a:solidFill>
                <a:latin typeface="Arial"/>
                <a:ea typeface="Arial"/>
                <a:cs typeface="Arial"/>
              </a:defRPr>
            </a:lvl3pPr>
            <a:lvl4pPr>
              <a:defRPr sz="2550" b="1">
                <a:solidFill>
                  <a:srgbClr val="173B2B"/>
                </a:solidFill>
                <a:latin typeface="Arial"/>
                <a:ea typeface="Arial"/>
                <a:cs typeface="Arial"/>
              </a:defRPr>
            </a:lvl4pPr>
            <a:lvl5pPr>
              <a:defRPr sz="2550" b="1">
                <a:solidFill>
                  <a:srgbClr val="173B2B"/>
                </a:solidFill>
                <a:latin typeface="Arial"/>
                <a:ea typeface="Arial"/>
                <a:cs typeface="Arial"/>
              </a:defRPr>
            </a:lvl5pPr>
            <a:lvl6pPr>
              <a:defRPr sz="2550" b="1">
                <a:solidFill>
                  <a:srgbClr val="173B2B"/>
                </a:solidFill>
                <a:latin typeface="Arial"/>
                <a:ea typeface="Arial"/>
                <a:cs typeface="Arial"/>
              </a:defRPr>
            </a:lvl6pPr>
            <a:lvl7pPr>
              <a:defRPr sz="2550" b="1">
                <a:solidFill>
                  <a:srgbClr val="173B2B"/>
                </a:solidFill>
                <a:latin typeface="Arial"/>
                <a:ea typeface="Arial"/>
                <a:cs typeface="Arial"/>
              </a:defRPr>
            </a:lvl7pPr>
            <a:lvl8pPr>
              <a:defRPr sz="2550" b="1">
                <a:solidFill>
                  <a:srgbClr val="173B2B"/>
                </a:solidFill>
                <a:latin typeface="Arial"/>
                <a:ea typeface="Arial"/>
                <a:cs typeface="Arial"/>
              </a:defRPr>
            </a:lvl8pPr>
            <a:lvl9pPr>
              <a:defRPr sz="2550" b="1">
                <a:solidFill>
                  <a:srgbClr val="173B2B"/>
                </a:solidFill>
                <a:latin typeface="Arial"/>
                <a:ea typeface="Arial"/>
                <a:cs typeface="Arial"/>
              </a:defRPr>
            </a:lvl9pPr>
          </a:lstStyle>
          <a:p xmlns:a="http://schemas.openxmlformats.org/drawingml/2006/main">
            <a:pPr>
              <a:defRPr sz="2550" b="1">
                <a:solidFill>
                  <a:srgbClr val="173B2B"/>
                </a:solidFill>
                <a:latin typeface="Arial"/>
                <a:ea typeface="Arial"/>
                <a:cs typeface="Arial"/>
              </a:defRPr>
            </a:pPr>
            <a:r>
              <a:rPr sz="2550" b="1">
                <a:solidFill>
                  <a:srgbClr val="173B2B"/>
                </a:solidFill>
                <a:latin typeface="Arial"/>
                <a:ea typeface="Arial"/>
                <a:cs typeface="Arial"/>
              </a:rPr>
              <a:t>Implemented foundation</a:t>
            </a:r>
          </a:p>
        </p:txBody>
      </p:sp>
      <p:sp>
        <p:nvSpPr>
          <p:cNvPr id="5" name="">
            <a:extLst xmlns:a="http://schemas.openxmlformats.org/drawingml/2006/main">
              <a:ext uri="{FF2B5EF4-FFF2-40B4-BE49-F238E27FC236}">
                <a16:creationId xmlns:a16="http://schemas.microsoft.com/office/drawing/2014/main" id="{7FADD325-C092-4426-A6F3-DB885BCA6C2F}"/>
              </a:ext>
            </a:extLst>
          </p:cNvPr>
          <p:cNvSpPr>
            <a:spLocks xmlns:a="http://schemas.openxmlformats.org/drawingml/2006/main" noGrp="1"/>
          </p:cNvSpPr>
          <p:nvPr/>
        </p:nvSpPr>
        <p:spPr>
          <a:xfrm xmlns:a="http://schemas.openxmlformats.org/drawingml/2006/main">
            <a:off x="685800" y="2714625"/>
            <a:ext cx="4953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Mobile search and road-route preview</a:t>
            </a:r>
          </a:p>
          <a:p xmlns:a="http://schemas.openxmlformats.org/drawingml/2006/main">
            <a:r>
              <a:t/>
            </a:r>
          </a:p>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Photo and GPS review workflow</a:t>
            </a:r>
          </a:p>
          <a:p xmlns:a="http://schemas.openxmlformats.org/drawingml/2006/main">
            <a:r>
              <a:t/>
            </a:r>
          </a:p>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Account, support and session records</a:t>
            </a:r>
          </a:p>
          <a:p xmlns:a="http://schemas.openxmlformats.org/drawingml/2006/main">
            <a:r>
              <a:t/>
            </a:r>
          </a:p>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Tested ownership/payment safeguards</a:t>
            </a:r>
          </a:p>
        </p:txBody>
      </p:sp>
      <p:sp>
        <p:nvSpPr>
          <p:cNvPr id="6" name="">
            <a:extLst xmlns:a="http://schemas.openxmlformats.org/drawingml/2006/main">
              <a:ext uri="{FF2B5EF4-FFF2-40B4-BE49-F238E27FC236}">
                <a16:creationId xmlns:a16="http://schemas.microsoft.com/office/drawing/2014/main" id="{7A7A90C9-D6B2-4B17-B91A-DF2ED83042FB}"/>
              </a:ext>
            </a:extLst>
          </p:cNvPr>
          <p:cNvSpPr>
            <a:spLocks xmlns:a="http://schemas.openxmlformats.org/drawingml/2006/main" noGrp="1"/>
          </p:cNvSpPr>
          <p:nvPr/>
        </p:nvSpPr>
        <p:spPr>
          <a:xfrm xmlns:a="http://schemas.openxmlformats.org/drawingml/2006/main">
            <a:off x="6705600" y="1819275"/>
            <a:ext cx="4810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2B"/>
                </a:solidFill>
                <a:latin typeface="Arial"/>
                <a:ea typeface="Arial"/>
                <a:cs typeface="Arial"/>
              </a:defRPr>
            </a:defPPr>
            <a:lvl1pPr>
              <a:defRPr sz="2550" b="1">
                <a:solidFill>
                  <a:srgbClr val="173B2B"/>
                </a:solidFill>
                <a:latin typeface="Arial"/>
                <a:ea typeface="Arial"/>
                <a:cs typeface="Arial"/>
              </a:defRPr>
            </a:lvl1pPr>
            <a:lvl2pPr>
              <a:defRPr sz="2550" b="1">
                <a:solidFill>
                  <a:srgbClr val="173B2B"/>
                </a:solidFill>
                <a:latin typeface="Arial"/>
                <a:ea typeface="Arial"/>
                <a:cs typeface="Arial"/>
              </a:defRPr>
            </a:lvl2pPr>
            <a:lvl3pPr>
              <a:defRPr sz="2550" b="1">
                <a:solidFill>
                  <a:srgbClr val="173B2B"/>
                </a:solidFill>
                <a:latin typeface="Arial"/>
                <a:ea typeface="Arial"/>
                <a:cs typeface="Arial"/>
              </a:defRPr>
            </a:lvl3pPr>
            <a:lvl4pPr>
              <a:defRPr sz="2550" b="1">
                <a:solidFill>
                  <a:srgbClr val="173B2B"/>
                </a:solidFill>
                <a:latin typeface="Arial"/>
                <a:ea typeface="Arial"/>
                <a:cs typeface="Arial"/>
              </a:defRPr>
            </a:lvl4pPr>
            <a:lvl5pPr>
              <a:defRPr sz="2550" b="1">
                <a:solidFill>
                  <a:srgbClr val="173B2B"/>
                </a:solidFill>
                <a:latin typeface="Arial"/>
                <a:ea typeface="Arial"/>
                <a:cs typeface="Arial"/>
              </a:defRPr>
            </a:lvl5pPr>
            <a:lvl6pPr>
              <a:defRPr sz="2550" b="1">
                <a:solidFill>
                  <a:srgbClr val="173B2B"/>
                </a:solidFill>
                <a:latin typeface="Arial"/>
                <a:ea typeface="Arial"/>
                <a:cs typeface="Arial"/>
              </a:defRPr>
            </a:lvl6pPr>
            <a:lvl7pPr>
              <a:defRPr sz="2550" b="1">
                <a:solidFill>
                  <a:srgbClr val="173B2B"/>
                </a:solidFill>
                <a:latin typeface="Arial"/>
                <a:ea typeface="Arial"/>
                <a:cs typeface="Arial"/>
              </a:defRPr>
            </a:lvl7pPr>
            <a:lvl8pPr>
              <a:defRPr sz="2550" b="1">
                <a:solidFill>
                  <a:srgbClr val="173B2B"/>
                </a:solidFill>
                <a:latin typeface="Arial"/>
                <a:ea typeface="Arial"/>
                <a:cs typeface="Arial"/>
              </a:defRPr>
            </a:lvl8pPr>
            <a:lvl9pPr>
              <a:defRPr sz="2550" b="1">
                <a:solidFill>
                  <a:srgbClr val="173B2B"/>
                </a:solidFill>
                <a:latin typeface="Arial"/>
                <a:ea typeface="Arial"/>
                <a:cs typeface="Arial"/>
              </a:defRPr>
            </a:lvl9pPr>
          </a:lstStyle>
          <a:p xmlns:a="http://schemas.openxmlformats.org/drawingml/2006/main">
            <a:pPr>
              <a:defRPr sz="2550" b="1">
                <a:solidFill>
                  <a:srgbClr val="173B2B"/>
                </a:solidFill>
                <a:latin typeface="Arial"/>
                <a:ea typeface="Arial"/>
                <a:cs typeface="Arial"/>
              </a:defRPr>
            </a:pPr>
            <a:r>
              <a:rPr sz="2550" b="1">
                <a:solidFill>
                  <a:srgbClr val="173B2B"/>
                </a:solidFill>
                <a:latin typeface="Arial"/>
                <a:ea typeface="Arial"/>
                <a:cs typeface="Arial"/>
              </a:rPr>
              <a:t>Before commercial charging</a:t>
            </a:r>
          </a:p>
        </p:txBody>
      </p:sp>
      <p:sp>
        <p:nvSpPr>
          <p:cNvPr id="7" name="">
            <a:extLst xmlns:a="http://schemas.openxmlformats.org/drawingml/2006/main">
              <a:ext uri="{FF2B5EF4-FFF2-40B4-BE49-F238E27FC236}">
                <a16:creationId xmlns:a16="http://schemas.microsoft.com/office/drawing/2014/main" id="{61B142A4-C60D-4829-9DE1-13BF7EA37D76}"/>
              </a:ext>
            </a:extLst>
          </p:cNvPr>
          <p:cNvSpPr>
            <a:spLocks xmlns:a="http://schemas.openxmlformats.org/drawingml/2006/main" noGrp="1"/>
          </p:cNvSpPr>
          <p:nvPr/>
        </p:nvSpPr>
        <p:spPr>
          <a:xfrm xmlns:a="http://schemas.openxmlformats.org/drawingml/2006/main">
            <a:off x="6705600" y="2714625"/>
            <a:ext cx="4810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34F"/>
                </a:solidFill>
                <a:latin typeface="Arial"/>
                <a:ea typeface="Arial"/>
                <a:cs typeface="Arial"/>
              </a:defRPr>
            </a:defPPr>
            <a:lvl1pPr>
              <a:defRPr sz="2025" b="0">
                <a:solidFill>
                  <a:srgbClr val="53634F"/>
                </a:solidFill>
                <a:latin typeface="Arial"/>
                <a:ea typeface="Arial"/>
                <a:cs typeface="Arial"/>
              </a:defRPr>
            </a:lvl1pPr>
            <a:lvl2pPr>
              <a:defRPr sz="2025" b="0">
                <a:solidFill>
                  <a:srgbClr val="53634F"/>
                </a:solidFill>
                <a:latin typeface="Arial"/>
                <a:ea typeface="Arial"/>
                <a:cs typeface="Arial"/>
              </a:defRPr>
            </a:lvl2pPr>
            <a:lvl3pPr>
              <a:defRPr sz="2025" b="0">
                <a:solidFill>
                  <a:srgbClr val="53634F"/>
                </a:solidFill>
                <a:latin typeface="Arial"/>
                <a:ea typeface="Arial"/>
                <a:cs typeface="Arial"/>
              </a:defRPr>
            </a:lvl3pPr>
            <a:lvl4pPr>
              <a:defRPr sz="2025" b="0">
                <a:solidFill>
                  <a:srgbClr val="53634F"/>
                </a:solidFill>
                <a:latin typeface="Arial"/>
                <a:ea typeface="Arial"/>
                <a:cs typeface="Arial"/>
              </a:defRPr>
            </a:lvl4pPr>
            <a:lvl5pPr>
              <a:defRPr sz="2025" b="0">
                <a:solidFill>
                  <a:srgbClr val="53634F"/>
                </a:solidFill>
                <a:latin typeface="Arial"/>
                <a:ea typeface="Arial"/>
                <a:cs typeface="Arial"/>
              </a:defRPr>
            </a:lvl5pPr>
            <a:lvl6pPr>
              <a:defRPr sz="2025" b="0">
                <a:solidFill>
                  <a:srgbClr val="53634F"/>
                </a:solidFill>
                <a:latin typeface="Arial"/>
                <a:ea typeface="Arial"/>
                <a:cs typeface="Arial"/>
              </a:defRPr>
            </a:lvl6pPr>
            <a:lvl7pPr>
              <a:defRPr sz="2025" b="0">
                <a:solidFill>
                  <a:srgbClr val="53634F"/>
                </a:solidFill>
                <a:latin typeface="Arial"/>
                <a:ea typeface="Arial"/>
                <a:cs typeface="Arial"/>
              </a:defRPr>
            </a:lvl7pPr>
            <a:lvl8pPr>
              <a:defRPr sz="2025" b="0">
                <a:solidFill>
                  <a:srgbClr val="53634F"/>
                </a:solidFill>
                <a:latin typeface="Arial"/>
                <a:ea typeface="Arial"/>
                <a:cs typeface="Arial"/>
              </a:defRPr>
            </a:lvl8pPr>
            <a:lvl9pPr>
              <a:defRPr sz="2025" b="0">
                <a:solidFill>
                  <a:srgbClr val="53634F"/>
                </a:solidFill>
                <a:latin typeface="Arial"/>
                <a:ea typeface="Arial"/>
                <a:cs typeface="Arial"/>
              </a:defRPr>
            </a:lvl9pPr>
          </a:lstStyle>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Actual legal operator and public contact</a:t>
            </a:r>
          </a:p>
          <a:p xmlns:a="http://schemas.openxmlformats.org/drawingml/2006/main">
            <a:r>
              <a:t/>
            </a:r>
          </a:p>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Production email and routing capacity</a:t>
            </a:r>
          </a:p>
          <a:p xmlns:a="http://schemas.openxmlformats.org/drawingml/2006/main">
            <a:r>
              <a:t/>
            </a:r>
          </a:p>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Verified hosts and merchant approval</a:t>
            </a:r>
          </a:p>
          <a:p xmlns:a="http://schemas.openxmlformats.org/drawingml/2006/main">
            <a:r>
              <a:t/>
            </a:r>
          </a:p>
          <a:p xmlns:a="http://schemas.openxmlformats.org/drawingml/2006/main">
            <a:pPr>
              <a:defRPr sz="2025" b="0">
                <a:solidFill>
                  <a:srgbClr val="53634F"/>
                </a:solidFill>
                <a:latin typeface="Arial"/>
                <a:ea typeface="Arial"/>
                <a:cs typeface="Arial"/>
              </a:defRPr>
            </a:pPr>
            <a:r>
              <a:rPr sz="2025" b="0">
                <a:solidFill>
                  <a:srgbClr val="53634F"/>
                </a:solidFill>
                <a:latin typeface="Arial"/>
                <a:ea typeface="Arial"/>
                <a:cs typeface="Arial"/>
              </a:rPr>
              <a:t>Final policies and supervised acceptance</a:t>
            </a:r>
          </a:p>
        </p:txBody>
      </p:sp>
    </p:spTree>
    <p:extLst>
      <p:ext uri="{BB962C8B-B14F-4D97-AF65-F5344CB8AC3E}">
        <p14:creationId xmlns:p14="http://schemas.microsoft.com/office/powerpoint/2010/main" val="1019009593"/>
      </p:ext>
    </p:extLst>
  </p:cSld>
</p:sld>
</file>

<file path=ppt/slides/slide10.xml><?xml version="1.0" encoding="utf-8"?>
<p:sld xmlns:p="http://schemas.openxmlformats.org/presentationml/2006/main">
  <p:cSld>
    <p:bg>
      <p:bgPr>
        <a:solidFill xmlns:a="http://schemas.openxmlformats.org/drawingml/2006/main">
          <a:srgbClr val="173B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B30907-AE43-46A9-905E-6F955EC39430}"/>
              </a:ext>
            </a:extLst>
          </p:cNvPr>
          <p:cNvSpPr>
            <a:spLocks xmlns:a="http://schemas.openxmlformats.org/drawingml/2006/main" noGrp="1"/>
          </p:cNvSpPr>
          <p:nvPr/>
        </p:nvSpPr>
        <p:spPr>
          <a:xfrm xmlns:a="http://schemas.openxmlformats.org/drawingml/2006/main">
            <a:off x="685800" y="6286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AFBF7"/>
                </a:solidFill>
                <a:latin typeface="Arial"/>
                <a:ea typeface="Arial"/>
                <a:cs typeface="Arial"/>
              </a:defRPr>
            </a:defPPr>
            <a:lvl1pPr>
              <a:defRPr sz="3600" b="1">
                <a:solidFill>
                  <a:srgbClr val="FAFBF7"/>
                </a:solidFill>
                <a:latin typeface="Arial"/>
                <a:ea typeface="Arial"/>
                <a:cs typeface="Arial"/>
              </a:defRPr>
            </a:lvl1pPr>
            <a:lvl2pPr>
              <a:defRPr sz="3600" b="1">
                <a:solidFill>
                  <a:srgbClr val="FAFBF7"/>
                </a:solidFill>
                <a:latin typeface="Arial"/>
                <a:ea typeface="Arial"/>
                <a:cs typeface="Arial"/>
              </a:defRPr>
            </a:lvl2pPr>
            <a:lvl3pPr>
              <a:defRPr sz="3600" b="1">
                <a:solidFill>
                  <a:srgbClr val="FAFBF7"/>
                </a:solidFill>
                <a:latin typeface="Arial"/>
                <a:ea typeface="Arial"/>
                <a:cs typeface="Arial"/>
              </a:defRPr>
            </a:lvl3pPr>
            <a:lvl4pPr>
              <a:defRPr sz="3600" b="1">
                <a:solidFill>
                  <a:srgbClr val="FAFBF7"/>
                </a:solidFill>
                <a:latin typeface="Arial"/>
                <a:ea typeface="Arial"/>
                <a:cs typeface="Arial"/>
              </a:defRPr>
            </a:lvl4pPr>
            <a:lvl5pPr>
              <a:defRPr sz="3600" b="1">
                <a:solidFill>
                  <a:srgbClr val="FAFBF7"/>
                </a:solidFill>
                <a:latin typeface="Arial"/>
                <a:ea typeface="Arial"/>
                <a:cs typeface="Arial"/>
              </a:defRPr>
            </a:lvl5pPr>
            <a:lvl6pPr>
              <a:defRPr sz="3600" b="1">
                <a:solidFill>
                  <a:srgbClr val="FAFBF7"/>
                </a:solidFill>
                <a:latin typeface="Arial"/>
                <a:ea typeface="Arial"/>
                <a:cs typeface="Arial"/>
              </a:defRPr>
            </a:lvl6pPr>
            <a:lvl7pPr>
              <a:defRPr sz="3600" b="1">
                <a:solidFill>
                  <a:srgbClr val="FAFBF7"/>
                </a:solidFill>
                <a:latin typeface="Arial"/>
                <a:ea typeface="Arial"/>
                <a:cs typeface="Arial"/>
              </a:defRPr>
            </a:lvl7pPr>
            <a:lvl8pPr>
              <a:defRPr sz="3600" b="1">
                <a:solidFill>
                  <a:srgbClr val="FAFBF7"/>
                </a:solidFill>
                <a:latin typeface="Arial"/>
                <a:ea typeface="Arial"/>
                <a:cs typeface="Arial"/>
              </a:defRPr>
            </a:lvl8pPr>
            <a:lvl9pPr>
              <a:defRPr sz="3600" b="1">
                <a:solidFill>
                  <a:srgbClr val="FAFBF7"/>
                </a:solidFill>
                <a:latin typeface="Arial"/>
                <a:ea typeface="Arial"/>
                <a:cs typeface="Arial"/>
              </a:defRPr>
            </a:lvl9pPr>
          </a:lstStyle>
          <a:p xmlns:a="http://schemas.openxmlformats.org/drawingml/2006/main">
            <a:pPr>
              <a:defRPr sz="3600" b="1">
                <a:solidFill>
                  <a:srgbClr val="FAFBF7"/>
                </a:solidFill>
                <a:latin typeface="Arial"/>
                <a:ea typeface="Arial"/>
                <a:cs typeface="Arial"/>
              </a:defRPr>
            </a:pPr>
            <a:r>
              <a:rPr sz="3600" b="1">
                <a:solidFill>
                  <a:srgbClr val="FAFBF7"/>
                </a:solidFill>
                <a:latin typeface="Arial"/>
                <a:ea typeface="Arial"/>
                <a:cs typeface="Arial"/>
              </a:rPr>
              <a:t>The founding pilot</a:t>
            </a:r>
          </a:p>
        </p:txBody>
      </p:sp>
      <p:sp>
        <p:nvSpPr>
          <p:cNvPr id="2" name="">
            <a:extLst xmlns:a="http://schemas.openxmlformats.org/drawingml/2006/main">
              <a:ext uri="{FF2B5EF4-FFF2-40B4-BE49-F238E27FC236}">
                <a16:creationId xmlns:a16="http://schemas.microsoft.com/office/drawing/2014/main" id="{C3FEC54E-B3CF-4C31-99F2-254ACFA44C99}"/>
              </a:ext>
            </a:extLst>
          </p:cNvPr>
          <p:cNvSpPr>
            <a:spLocks xmlns:a="http://schemas.openxmlformats.org/drawingml/2006/main" noGrp="1"/>
          </p:cNvSpPr>
          <p:nvPr/>
        </p:nvSpPr>
        <p:spPr>
          <a:xfrm xmlns:a="http://schemas.openxmlformats.org/drawingml/2006/main">
            <a:off x="685800" y="638175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5EE81"/>
                </a:solidFill>
                <a:latin typeface="Arial"/>
                <a:ea typeface="Arial"/>
                <a:cs typeface="Arial"/>
              </a:defRPr>
            </a:defPPr>
            <a:lvl1pPr>
              <a:defRPr sz="1350" b="0">
                <a:solidFill>
                  <a:srgbClr val="D5EE81"/>
                </a:solidFill>
                <a:latin typeface="Arial"/>
                <a:ea typeface="Arial"/>
                <a:cs typeface="Arial"/>
              </a:defRPr>
            </a:lvl1pPr>
            <a:lvl2pPr>
              <a:defRPr sz="1350" b="0">
                <a:solidFill>
                  <a:srgbClr val="D5EE81"/>
                </a:solidFill>
                <a:latin typeface="Arial"/>
                <a:ea typeface="Arial"/>
                <a:cs typeface="Arial"/>
              </a:defRPr>
            </a:lvl2pPr>
            <a:lvl3pPr>
              <a:defRPr sz="1350" b="0">
                <a:solidFill>
                  <a:srgbClr val="D5EE81"/>
                </a:solidFill>
                <a:latin typeface="Arial"/>
                <a:ea typeface="Arial"/>
                <a:cs typeface="Arial"/>
              </a:defRPr>
            </a:lvl3pPr>
            <a:lvl4pPr>
              <a:defRPr sz="1350" b="0">
                <a:solidFill>
                  <a:srgbClr val="D5EE81"/>
                </a:solidFill>
                <a:latin typeface="Arial"/>
                <a:ea typeface="Arial"/>
                <a:cs typeface="Arial"/>
              </a:defRPr>
            </a:lvl4pPr>
            <a:lvl5pPr>
              <a:defRPr sz="1350" b="0">
                <a:solidFill>
                  <a:srgbClr val="D5EE81"/>
                </a:solidFill>
                <a:latin typeface="Arial"/>
                <a:ea typeface="Arial"/>
                <a:cs typeface="Arial"/>
              </a:defRPr>
            </a:lvl5pPr>
            <a:lvl6pPr>
              <a:defRPr sz="1350" b="0">
                <a:solidFill>
                  <a:srgbClr val="D5EE81"/>
                </a:solidFill>
                <a:latin typeface="Arial"/>
                <a:ea typeface="Arial"/>
                <a:cs typeface="Arial"/>
              </a:defRPr>
            </a:lvl6pPr>
            <a:lvl7pPr>
              <a:defRPr sz="1350" b="0">
                <a:solidFill>
                  <a:srgbClr val="D5EE81"/>
                </a:solidFill>
                <a:latin typeface="Arial"/>
                <a:ea typeface="Arial"/>
                <a:cs typeface="Arial"/>
              </a:defRPr>
            </a:lvl7pPr>
            <a:lvl8pPr>
              <a:defRPr sz="1350" b="0">
                <a:solidFill>
                  <a:srgbClr val="D5EE81"/>
                </a:solidFill>
                <a:latin typeface="Arial"/>
                <a:ea typeface="Arial"/>
                <a:cs typeface="Arial"/>
              </a:defRPr>
            </a:lvl8pPr>
            <a:lvl9pPr>
              <a:defRPr sz="1350" b="0">
                <a:solidFill>
                  <a:srgbClr val="D5EE81"/>
                </a:solidFill>
                <a:latin typeface="Arial"/>
                <a:ea typeface="Arial"/>
                <a:cs typeface="Arial"/>
              </a:defRPr>
            </a:lvl9pPr>
          </a:lstStyle>
          <a:p xmlns:a="http://schemas.openxmlformats.org/drawingml/2006/main">
            <a:pPr>
              <a:defRPr sz="1350" b="0">
                <a:solidFill>
                  <a:srgbClr val="D5EE81"/>
                </a:solidFill>
                <a:latin typeface="Arial"/>
                <a:ea typeface="Arial"/>
                <a:cs typeface="Arial"/>
              </a:defRPr>
            </a:pPr>
            <a:r>
              <a:rPr sz="1350" b="0">
                <a:solidFill>
                  <a:srgbClr val="D5EE81"/>
                </a:solidFill>
                <a:latin typeface="Arial"/>
                <a:ea typeface="Arial"/>
                <a:cs typeface="Arial"/>
              </a:rPr>
              <a:t>ChargeNeighbour, pilot proposal</a:t>
            </a:r>
          </a:p>
        </p:txBody>
      </p:sp>
      <p:sp>
        <p:nvSpPr>
          <p:cNvPr id="3" name="">
            <a:extLst xmlns:a="http://schemas.openxmlformats.org/drawingml/2006/main">
              <a:ext uri="{FF2B5EF4-FFF2-40B4-BE49-F238E27FC236}">
                <a16:creationId xmlns:a16="http://schemas.microsoft.com/office/drawing/2014/main" id="{98E46B0A-CF0F-4854-BEB1-657803FC7A3E}"/>
              </a:ext>
            </a:extLst>
          </p:cNvPr>
          <p:cNvSpPr>
            <a:spLocks xmlns:a="http://schemas.openxmlformats.org/drawingml/2006/main" noGrp="1"/>
          </p:cNvSpPr>
          <p:nvPr/>
        </p:nvSpPr>
        <p:spPr>
          <a:xfrm xmlns:a="http://schemas.openxmlformats.org/drawingml/2006/main">
            <a:off x="110680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5EE81"/>
                </a:solidFill>
                <a:latin typeface="Arial"/>
                <a:ea typeface="Arial"/>
                <a:cs typeface="Arial"/>
              </a:defRPr>
            </a:defPPr>
            <a:lvl1pPr>
              <a:defRPr sz="1350" b="0">
                <a:solidFill>
                  <a:srgbClr val="D5EE81"/>
                </a:solidFill>
                <a:latin typeface="Arial"/>
                <a:ea typeface="Arial"/>
                <a:cs typeface="Arial"/>
              </a:defRPr>
            </a:lvl1pPr>
            <a:lvl2pPr>
              <a:defRPr sz="1350" b="0">
                <a:solidFill>
                  <a:srgbClr val="D5EE81"/>
                </a:solidFill>
                <a:latin typeface="Arial"/>
                <a:ea typeface="Arial"/>
                <a:cs typeface="Arial"/>
              </a:defRPr>
            </a:lvl2pPr>
            <a:lvl3pPr>
              <a:defRPr sz="1350" b="0">
                <a:solidFill>
                  <a:srgbClr val="D5EE81"/>
                </a:solidFill>
                <a:latin typeface="Arial"/>
                <a:ea typeface="Arial"/>
                <a:cs typeface="Arial"/>
              </a:defRPr>
            </a:lvl3pPr>
            <a:lvl4pPr>
              <a:defRPr sz="1350" b="0">
                <a:solidFill>
                  <a:srgbClr val="D5EE81"/>
                </a:solidFill>
                <a:latin typeface="Arial"/>
                <a:ea typeface="Arial"/>
                <a:cs typeface="Arial"/>
              </a:defRPr>
            </a:lvl4pPr>
            <a:lvl5pPr>
              <a:defRPr sz="1350" b="0">
                <a:solidFill>
                  <a:srgbClr val="D5EE81"/>
                </a:solidFill>
                <a:latin typeface="Arial"/>
                <a:ea typeface="Arial"/>
                <a:cs typeface="Arial"/>
              </a:defRPr>
            </a:lvl5pPr>
            <a:lvl6pPr>
              <a:defRPr sz="1350" b="0">
                <a:solidFill>
                  <a:srgbClr val="D5EE81"/>
                </a:solidFill>
                <a:latin typeface="Arial"/>
                <a:ea typeface="Arial"/>
                <a:cs typeface="Arial"/>
              </a:defRPr>
            </a:lvl6pPr>
            <a:lvl7pPr>
              <a:defRPr sz="1350" b="0">
                <a:solidFill>
                  <a:srgbClr val="D5EE81"/>
                </a:solidFill>
                <a:latin typeface="Arial"/>
                <a:ea typeface="Arial"/>
                <a:cs typeface="Arial"/>
              </a:defRPr>
            </a:lvl7pPr>
            <a:lvl8pPr>
              <a:defRPr sz="1350" b="0">
                <a:solidFill>
                  <a:srgbClr val="D5EE81"/>
                </a:solidFill>
                <a:latin typeface="Arial"/>
                <a:ea typeface="Arial"/>
                <a:cs typeface="Arial"/>
              </a:defRPr>
            </a:lvl8pPr>
            <a:lvl9pPr>
              <a:defRPr sz="1350" b="0">
                <a:solidFill>
                  <a:srgbClr val="D5EE81"/>
                </a:solidFill>
                <a:latin typeface="Arial"/>
                <a:ea typeface="Arial"/>
                <a:cs typeface="Arial"/>
              </a:defRPr>
            </a:lvl9pPr>
          </a:lstStyle>
          <a:p xmlns:a="http://schemas.openxmlformats.org/drawingml/2006/main">
            <a:pPr>
              <a:defRPr sz="1350" b="0">
                <a:solidFill>
                  <a:srgbClr val="D5EE81"/>
                </a:solidFill>
                <a:latin typeface="Arial"/>
                <a:ea typeface="Arial"/>
                <a:cs typeface="Arial"/>
              </a:defRPr>
            </a:pPr>
            <a:r>
              <a:rPr sz="1350" b="0">
                <a:solidFill>
                  <a:srgbClr val="D5EE81"/>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36614AA-F35B-416B-8A1F-6903D01CD48B}"/>
              </a:ext>
            </a:extLst>
          </p:cNvPr>
          <p:cNvSpPr>
            <a:spLocks xmlns:a="http://schemas.openxmlformats.org/drawingml/2006/main" noGrp="1"/>
          </p:cNvSpPr>
          <p:nvPr/>
        </p:nvSpPr>
        <p:spPr>
          <a:xfrm xmlns:a="http://schemas.openxmlformats.org/drawingml/2006/main">
            <a:off x="685800" y="18288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FAFBF7"/>
                </a:solidFill>
                <a:latin typeface="Arial"/>
                <a:ea typeface="Arial"/>
                <a:cs typeface="Arial"/>
              </a:defRPr>
            </a:defPPr>
            <a:lvl1pPr>
              <a:defRPr sz="4500" b="1">
                <a:solidFill>
                  <a:srgbClr val="FAFBF7"/>
                </a:solidFill>
                <a:latin typeface="Arial"/>
                <a:ea typeface="Arial"/>
                <a:cs typeface="Arial"/>
              </a:defRPr>
            </a:lvl1pPr>
            <a:lvl2pPr>
              <a:defRPr sz="4500" b="1">
                <a:solidFill>
                  <a:srgbClr val="FAFBF7"/>
                </a:solidFill>
                <a:latin typeface="Arial"/>
                <a:ea typeface="Arial"/>
                <a:cs typeface="Arial"/>
              </a:defRPr>
            </a:lvl2pPr>
            <a:lvl3pPr>
              <a:defRPr sz="4500" b="1">
                <a:solidFill>
                  <a:srgbClr val="FAFBF7"/>
                </a:solidFill>
                <a:latin typeface="Arial"/>
                <a:ea typeface="Arial"/>
                <a:cs typeface="Arial"/>
              </a:defRPr>
            </a:lvl3pPr>
            <a:lvl4pPr>
              <a:defRPr sz="4500" b="1">
                <a:solidFill>
                  <a:srgbClr val="FAFBF7"/>
                </a:solidFill>
                <a:latin typeface="Arial"/>
                <a:ea typeface="Arial"/>
                <a:cs typeface="Arial"/>
              </a:defRPr>
            </a:lvl4pPr>
            <a:lvl5pPr>
              <a:defRPr sz="4500" b="1">
                <a:solidFill>
                  <a:srgbClr val="FAFBF7"/>
                </a:solidFill>
                <a:latin typeface="Arial"/>
                <a:ea typeface="Arial"/>
                <a:cs typeface="Arial"/>
              </a:defRPr>
            </a:lvl5pPr>
            <a:lvl6pPr>
              <a:defRPr sz="4500" b="1">
                <a:solidFill>
                  <a:srgbClr val="FAFBF7"/>
                </a:solidFill>
                <a:latin typeface="Arial"/>
                <a:ea typeface="Arial"/>
                <a:cs typeface="Arial"/>
              </a:defRPr>
            </a:lvl6pPr>
            <a:lvl7pPr>
              <a:defRPr sz="4500" b="1">
                <a:solidFill>
                  <a:srgbClr val="FAFBF7"/>
                </a:solidFill>
                <a:latin typeface="Arial"/>
                <a:ea typeface="Arial"/>
                <a:cs typeface="Arial"/>
              </a:defRPr>
            </a:lvl7pPr>
            <a:lvl8pPr>
              <a:defRPr sz="4500" b="1">
                <a:solidFill>
                  <a:srgbClr val="FAFBF7"/>
                </a:solidFill>
                <a:latin typeface="Arial"/>
                <a:ea typeface="Arial"/>
                <a:cs typeface="Arial"/>
              </a:defRPr>
            </a:lvl8pPr>
            <a:lvl9pPr>
              <a:defRPr sz="4500" b="1">
                <a:solidFill>
                  <a:srgbClr val="FAFBF7"/>
                </a:solidFill>
                <a:latin typeface="Arial"/>
                <a:ea typeface="Arial"/>
                <a:cs typeface="Arial"/>
              </a:defRPr>
            </a:lvl9pPr>
          </a:lstStyle>
          <a:p xmlns:a="http://schemas.openxmlformats.org/drawingml/2006/main">
            <a:pPr>
              <a:defRPr sz="4500" b="1">
                <a:solidFill>
                  <a:srgbClr val="FAFBF7"/>
                </a:solidFill>
                <a:latin typeface="Arial"/>
                <a:ea typeface="Arial"/>
                <a:cs typeface="Arial"/>
              </a:defRPr>
            </a:pPr>
            <a:r>
              <a:rPr sz="4500" b="1">
                <a:solidFill>
                  <a:srgbClr val="FAFBF7"/>
                </a:solidFill>
                <a:latin typeface="Arial"/>
                <a:ea typeface="Arial"/>
                <a:cs typeface="Arial"/>
              </a:rPr>
              <a:t>A small group can test</a:t>
            </a:r>
          </a:p>
          <a:p xmlns:a="http://schemas.openxmlformats.org/drawingml/2006/main">
            <a:pPr>
              <a:defRPr sz="4500" b="1">
                <a:solidFill>
                  <a:srgbClr val="FAFBF7"/>
                </a:solidFill>
                <a:latin typeface="Arial"/>
                <a:ea typeface="Arial"/>
                <a:cs typeface="Arial"/>
              </a:defRPr>
            </a:pPr>
            <a:r>
              <a:rPr sz="4500" b="1">
                <a:solidFill>
                  <a:srgbClr val="FAFBF7"/>
                </a:solidFill>
                <a:latin typeface="Arial"/>
                <a:ea typeface="Arial"/>
                <a:cs typeface="Arial"/>
              </a:rPr>
              <a:t>a useful local network</a:t>
            </a:r>
          </a:p>
        </p:txBody>
      </p:sp>
      <p:sp>
        <p:nvSpPr>
          <p:cNvPr id="5" name="">
            <a:extLst xmlns:a="http://schemas.openxmlformats.org/drawingml/2006/main">
              <a:ext uri="{FF2B5EF4-FFF2-40B4-BE49-F238E27FC236}">
                <a16:creationId xmlns:a16="http://schemas.microsoft.com/office/drawing/2014/main" id="{30C8651E-4A9B-449F-8FD1-DE64C83F613D}"/>
              </a:ext>
            </a:extLst>
          </p:cNvPr>
          <p:cNvSpPr>
            <a:spLocks xmlns:a="http://schemas.openxmlformats.org/drawingml/2006/main" noGrp="1"/>
          </p:cNvSpPr>
          <p:nvPr/>
        </p:nvSpPr>
        <p:spPr>
          <a:xfrm xmlns:a="http://schemas.openxmlformats.org/drawingml/2006/main">
            <a:off x="685800" y="36385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AFBF7"/>
                </a:solidFill>
                <a:latin typeface="Arial"/>
                <a:ea typeface="Arial"/>
                <a:cs typeface="Arial"/>
              </a:defRPr>
            </a:defPPr>
            <a:lvl1pPr>
              <a:defRPr sz="2325" b="0">
                <a:solidFill>
                  <a:srgbClr val="FAFBF7"/>
                </a:solidFill>
                <a:latin typeface="Arial"/>
                <a:ea typeface="Arial"/>
                <a:cs typeface="Arial"/>
              </a:defRPr>
            </a:lvl1pPr>
            <a:lvl2pPr>
              <a:defRPr sz="2325" b="0">
                <a:solidFill>
                  <a:srgbClr val="FAFBF7"/>
                </a:solidFill>
                <a:latin typeface="Arial"/>
                <a:ea typeface="Arial"/>
                <a:cs typeface="Arial"/>
              </a:defRPr>
            </a:lvl2pPr>
            <a:lvl3pPr>
              <a:defRPr sz="2325" b="0">
                <a:solidFill>
                  <a:srgbClr val="FAFBF7"/>
                </a:solidFill>
                <a:latin typeface="Arial"/>
                <a:ea typeface="Arial"/>
                <a:cs typeface="Arial"/>
              </a:defRPr>
            </a:lvl3pPr>
            <a:lvl4pPr>
              <a:defRPr sz="2325" b="0">
                <a:solidFill>
                  <a:srgbClr val="FAFBF7"/>
                </a:solidFill>
                <a:latin typeface="Arial"/>
                <a:ea typeface="Arial"/>
                <a:cs typeface="Arial"/>
              </a:defRPr>
            </a:lvl4pPr>
            <a:lvl5pPr>
              <a:defRPr sz="2325" b="0">
                <a:solidFill>
                  <a:srgbClr val="FAFBF7"/>
                </a:solidFill>
                <a:latin typeface="Arial"/>
                <a:ea typeface="Arial"/>
                <a:cs typeface="Arial"/>
              </a:defRPr>
            </a:lvl5pPr>
            <a:lvl6pPr>
              <a:defRPr sz="2325" b="0">
                <a:solidFill>
                  <a:srgbClr val="FAFBF7"/>
                </a:solidFill>
                <a:latin typeface="Arial"/>
                <a:ea typeface="Arial"/>
                <a:cs typeface="Arial"/>
              </a:defRPr>
            </a:lvl6pPr>
            <a:lvl7pPr>
              <a:defRPr sz="2325" b="0">
                <a:solidFill>
                  <a:srgbClr val="FAFBF7"/>
                </a:solidFill>
                <a:latin typeface="Arial"/>
                <a:ea typeface="Arial"/>
                <a:cs typeface="Arial"/>
              </a:defRPr>
            </a:lvl7pPr>
            <a:lvl8pPr>
              <a:defRPr sz="2325" b="0">
                <a:solidFill>
                  <a:srgbClr val="FAFBF7"/>
                </a:solidFill>
                <a:latin typeface="Arial"/>
                <a:ea typeface="Arial"/>
                <a:cs typeface="Arial"/>
              </a:defRPr>
            </a:lvl8pPr>
            <a:lvl9pPr>
              <a:defRPr sz="2325" b="0">
                <a:solidFill>
                  <a:srgbClr val="FAFBF7"/>
                </a:solidFill>
                <a:latin typeface="Arial"/>
                <a:ea typeface="Arial"/>
                <a:cs typeface="Arial"/>
              </a:defRPr>
            </a:lvl9pPr>
          </a:lstStyle>
          <a:p xmlns:a="http://schemas.openxmlformats.org/drawingml/2006/main">
            <a:pPr>
              <a:defRPr sz="2325" b="0">
                <a:solidFill>
                  <a:srgbClr val="FAFBF7"/>
                </a:solidFill>
                <a:latin typeface="Arial"/>
                <a:ea typeface="Arial"/>
                <a:cs typeface="Arial"/>
              </a:defRPr>
            </a:pPr>
            <a:r>
              <a:rPr sz="2325" b="0">
                <a:solidFill>
                  <a:srgbClr val="FAFBF7"/>
                </a:solidFill>
                <a:latin typeface="Arial"/>
                <a:ea typeface="Arial"/>
                <a:cs typeface="Arial"/>
              </a:rPr>
              <a:t>Seeking charger owners with accessible parking</a:t>
            </a:r>
          </a:p>
          <a:p xmlns:a="http://schemas.openxmlformats.org/drawingml/2006/main">
            <a:pPr>
              <a:defRPr sz="2325" b="0">
                <a:solidFill>
                  <a:srgbClr val="FAFBF7"/>
                </a:solidFill>
                <a:latin typeface="Arial"/>
                <a:ea typeface="Arial"/>
                <a:cs typeface="Arial"/>
              </a:defRPr>
            </a:pPr>
            <a:r>
              <a:rPr sz="2325" b="0">
                <a:solidFill>
                  <a:srgbClr val="FAFBF7"/>
                </a:solidFill>
                <a:latin typeface="Arial"/>
                <a:ea typeface="Arial"/>
                <a:cs typeface="Arial"/>
              </a:rPr>
              <a:t>and community partners who can recruit local drivers</a:t>
            </a:r>
          </a:p>
        </p:txBody>
      </p:sp>
      <p:sp>
        <p:nvSpPr>
          <p:cNvPr id="6" name="">
            <a:extLst xmlns:a="http://schemas.openxmlformats.org/drawingml/2006/main">
              <a:ext uri="{FF2B5EF4-FFF2-40B4-BE49-F238E27FC236}">
                <a16:creationId xmlns:a16="http://schemas.microsoft.com/office/drawing/2014/main" id="{3FB21EA9-1B1C-4977-9BD1-FA41F954B4A1}"/>
              </a:ext>
            </a:extLst>
          </p:cNvPr>
          <p:cNvSpPr>
            <a:spLocks xmlns:a="http://schemas.openxmlformats.org/drawingml/2006/main" noGrp="1"/>
          </p:cNvSpPr>
          <p:nvPr/>
        </p:nvSpPr>
        <p:spPr>
          <a:xfrm xmlns:a="http://schemas.openxmlformats.org/drawingml/2006/main">
            <a:off x="685800" y="50768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5EE81"/>
                </a:solidFill>
                <a:latin typeface="Arial"/>
                <a:ea typeface="Arial"/>
                <a:cs typeface="Arial"/>
              </a:defRPr>
            </a:defPPr>
            <a:lvl1pPr>
              <a:defRPr sz="2175" b="1">
                <a:solidFill>
                  <a:srgbClr val="D5EE81"/>
                </a:solidFill>
                <a:latin typeface="Arial"/>
                <a:ea typeface="Arial"/>
                <a:cs typeface="Arial"/>
              </a:defRPr>
            </a:lvl1pPr>
            <a:lvl2pPr>
              <a:defRPr sz="2175" b="1">
                <a:solidFill>
                  <a:srgbClr val="D5EE81"/>
                </a:solidFill>
                <a:latin typeface="Arial"/>
                <a:ea typeface="Arial"/>
                <a:cs typeface="Arial"/>
              </a:defRPr>
            </a:lvl2pPr>
            <a:lvl3pPr>
              <a:defRPr sz="2175" b="1">
                <a:solidFill>
                  <a:srgbClr val="D5EE81"/>
                </a:solidFill>
                <a:latin typeface="Arial"/>
                <a:ea typeface="Arial"/>
                <a:cs typeface="Arial"/>
              </a:defRPr>
            </a:lvl3pPr>
            <a:lvl4pPr>
              <a:defRPr sz="2175" b="1">
                <a:solidFill>
                  <a:srgbClr val="D5EE81"/>
                </a:solidFill>
                <a:latin typeface="Arial"/>
                <a:ea typeface="Arial"/>
                <a:cs typeface="Arial"/>
              </a:defRPr>
            </a:lvl4pPr>
            <a:lvl5pPr>
              <a:defRPr sz="2175" b="1">
                <a:solidFill>
                  <a:srgbClr val="D5EE81"/>
                </a:solidFill>
                <a:latin typeface="Arial"/>
                <a:ea typeface="Arial"/>
                <a:cs typeface="Arial"/>
              </a:defRPr>
            </a:lvl5pPr>
            <a:lvl6pPr>
              <a:defRPr sz="2175" b="1">
                <a:solidFill>
                  <a:srgbClr val="D5EE81"/>
                </a:solidFill>
                <a:latin typeface="Arial"/>
                <a:ea typeface="Arial"/>
                <a:cs typeface="Arial"/>
              </a:defRPr>
            </a:lvl6pPr>
            <a:lvl7pPr>
              <a:defRPr sz="2175" b="1">
                <a:solidFill>
                  <a:srgbClr val="D5EE81"/>
                </a:solidFill>
                <a:latin typeface="Arial"/>
                <a:ea typeface="Arial"/>
                <a:cs typeface="Arial"/>
              </a:defRPr>
            </a:lvl7pPr>
            <a:lvl8pPr>
              <a:defRPr sz="2175" b="1">
                <a:solidFill>
                  <a:srgbClr val="D5EE81"/>
                </a:solidFill>
                <a:latin typeface="Arial"/>
                <a:ea typeface="Arial"/>
                <a:cs typeface="Arial"/>
              </a:defRPr>
            </a:lvl8pPr>
            <a:lvl9pPr>
              <a:defRPr sz="2175" b="1">
                <a:solidFill>
                  <a:srgbClr val="D5EE81"/>
                </a:solidFill>
                <a:latin typeface="Arial"/>
                <a:ea typeface="Arial"/>
                <a:cs typeface="Arial"/>
              </a:defRPr>
            </a:lvl9pPr>
          </a:lstStyle>
          <a:p xmlns:a="http://schemas.openxmlformats.org/drawingml/2006/main">
            <a:pPr>
              <a:defRPr sz="2175" b="1">
                <a:solidFill>
                  <a:srgbClr val="D5EE81"/>
                </a:solidFill>
                <a:latin typeface="Arial"/>
                <a:ea typeface="Arial"/>
                <a:cs typeface="Arial"/>
              </a:defRPr>
            </a:pPr>
            <a:r>
              <a:rPr sz="2175" b="1">
                <a:solidFill>
                  <a:srgbClr val="D5EE81"/>
                </a:solidFill>
                <a:latin typeface="Arial"/>
                <a:ea typeface="Arial"/>
                <a:cs typeface="Arial"/>
              </a:rPr>
              <a:t>Next milestone: reviewed hosts and supervised charging sessions</a:t>
            </a:r>
          </a:p>
        </p:txBody>
      </p:sp>
      <p:sp>
        <p:nvSpPr>
          <p:cNvPr id="7" name="">
            <a:extLst xmlns:a="http://schemas.openxmlformats.org/drawingml/2006/main">
              <a:ext uri="{FF2B5EF4-FFF2-40B4-BE49-F238E27FC236}">
                <a16:creationId xmlns:a16="http://schemas.microsoft.com/office/drawing/2014/main" id="{643DF093-EBB1-4DC5-BFEE-DA1D7E20CD2D}"/>
              </a:ext>
            </a:extLst>
          </p:cNvPr>
          <p:cNvSpPr>
            <a:spLocks xmlns:a="http://schemas.openxmlformats.org/drawingml/2006/main" noGrp="1"/>
          </p:cNvSpPr>
          <p:nvPr/>
        </p:nvSpPr>
        <p:spPr>
          <a:xfrm xmlns:a="http://schemas.openxmlformats.org/drawingml/2006/main">
            <a:off x="685800" y="58102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AFBF7"/>
                </a:solidFill>
                <a:latin typeface="Arial"/>
                <a:ea typeface="Arial"/>
                <a:cs typeface="Arial"/>
              </a:defRPr>
            </a:defPPr>
            <a:lvl1pPr>
              <a:defRPr sz="2100" b="0">
                <a:solidFill>
                  <a:srgbClr val="FAFBF7"/>
                </a:solidFill>
                <a:latin typeface="Arial"/>
                <a:ea typeface="Arial"/>
                <a:cs typeface="Arial"/>
              </a:defRPr>
            </a:lvl1pPr>
            <a:lvl2pPr>
              <a:defRPr sz="2100" b="0">
                <a:solidFill>
                  <a:srgbClr val="FAFBF7"/>
                </a:solidFill>
                <a:latin typeface="Arial"/>
                <a:ea typeface="Arial"/>
                <a:cs typeface="Arial"/>
              </a:defRPr>
            </a:lvl2pPr>
            <a:lvl3pPr>
              <a:defRPr sz="2100" b="0">
                <a:solidFill>
                  <a:srgbClr val="FAFBF7"/>
                </a:solidFill>
                <a:latin typeface="Arial"/>
                <a:ea typeface="Arial"/>
                <a:cs typeface="Arial"/>
              </a:defRPr>
            </a:lvl3pPr>
            <a:lvl4pPr>
              <a:defRPr sz="2100" b="0">
                <a:solidFill>
                  <a:srgbClr val="FAFBF7"/>
                </a:solidFill>
                <a:latin typeface="Arial"/>
                <a:ea typeface="Arial"/>
                <a:cs typeface="Arial"/>
              </a:defRPr>
            </a:lvl4pPr>
            <a:lvl5pPr>
              <a:defRPr sz="2100" b="0">
                <a:solidFill>
                  <a:srgbClr val="FAFBF7"/>
                </a:solidFill>
                <a:latin typeface="Arial"/>
                <a:ea typeface="Arial"/>
                <a:cs typeface="Arial"/>
              </a:defRPr>
            </a:lvl5pPr>
            <a:lvl6pPr>
              <a:defRPr sz="2100" b="0">
                <a:solidFill>
                  <a:srgbClr val="FAFBF7"/>
                </a:solidFill>
                <a:latin typeface="Arial"/>
                <a:ea typeface="Arial"/>
                <a:cs typeface="Arial"/>
              </a:defRPr>
            </a:lvl6pPr>
            <a:lvl7pPr>
              <a:defRPr sz="2100" b="0">
                <a:solidFill>
                  <a:srgbClr val="FAFBF7"/>
                </a:solidFill>
                <a:latin typeface="Arial"/>
                <a:ea typeface="Arial"/>
                <a:cs typeface="Arial"/>
              </a:defRPr>
            </a:lvl7pPr>
            <a:lvl8pPr>
              <a:defRPr sz="2100" b="0">
                <a:solidFill>
                  <a:srgbClr val="FAFBF7"/>
                </a:solidFill>
                <a:latin typeface="Arial"/>
                <a:ea typeface="Arial"/>
                <a:cs typeface="Arial"/>
              </a:defRPr>
            </a:lvl8pPr>
            <a:lvl9pPr>
              <a:defRPr sz="2100" b="0">
                <a:solidFill>
                  <a:srgbClr val="FAFBF7"/>
                </a:solidFill>
                <a:latin typeface="Arial"/>
                <a:ea typeface="Arial"/>
                <a:cs typeface="Arial"/>
              </a:defRPr>
            </a:lvl9pPr>
          </a:lstStyle>
          <a:p xmlns:a="http://schemas.openxmlformats.org/drawingml/2006/main">
            <a:pPr>
              <a:defRPr sz="2100" b="0">
                <a:solidFill>
                  <a:srgbClr val="FAFBF7"/>
                </a:solidFill>
                <a:latin typeface="Arial"/>
                <a:ea typeface="Arial"/>
                <a:cs typeface="Arial"/>
              </a:defRPr>
            </a:pPr>
            <a:r>
              <a:rPr sz="2100">
                <a:solidFill>
                  <a:srgbClr val="FAFBF7"/>
                </a:solidFill>
                <a:latin typeface="Arial"/>
                <a:ea typeface="Arial"/>
                <a:cs typeface="Arial"/>
                <a:hlinkClick xmlns:r="http://schemas.openxmlformats.org/officeDocument/2006/relationships" r:id="R8be700cf918f4d9c"/>
              </a:rPr>
              <a:t>chargeneighbour-theta.vercel.app/support</a:t>
            </a:r>
          </a:p>
        </p:txBody>
      </p:sp>
    </p:spTree>
    <p:extLst>
      <p:ext uri="{BB962C8B-B14F-4D97-AF65-F5344CB8AC3E}">
        <p14:creationId xmlns:p14="http://schemas.microsoft.com/office/powerpoint/2010/main" val="29761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2026-10-20T06:47:35.1280000Z</dcterms:created>
  <dcterms:modified xsi:type="dcterms:W3CDTF">2026-10-20T06:47:35.1280000Z</dcterms:modified>
</coreProperties>
</file>